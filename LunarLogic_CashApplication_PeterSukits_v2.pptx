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914400"/>
            <a:ext cx="10972800" cy="548640"/>
          </a:xfrm>
          <a:prstGeom prst="rect">
            <a:avLst/>
          </a:prstGeom>
          <a:noFill/>
        </p:spPr>
        <p:txBody>
          <a:bodyPr wrap="square">
            <a:spAutoFit/>
          </a:bodyPr>
          <a:lstStyle/>
          <a:p>
            <a:pPr algn="l"/>
            <a:r>
              <a:rPr sz="1200" b="1">
                <a:solidFill>
                  <a:srgbClr val="00C2FF"/>
                </a:solidFill>
                <a:latin typeface="Calibri"/>
              </a:rPr>
              <a:t>CASH APPLICATION AUTOMATION</a:t>
            </a:r>
          </a:p>
        </p:txBody>
      </p:sp>
      <p:sp>
        <p:nvSpPr>
          <p:cNvPr id="4" name="TextBox 3"/>
          <p:cNvSpPr txBox="1"/>
          <p:nvPr/>
        </p:nvSpPr>
        <p:spPr>
          <a:xfrm>
            <a:off x="502920" y="1417320"/>
            <a:ext cx="10515600" cy="1645920"/>
          </a:xfrm>
          <a:prstGeom prst="rect">
            <a:avLst/>
          </a:prstGeom>
          <a:noFill/>
        </p:spPr>
        <p:txBody>
          <a:bodyPr wrap="square">
            <a:spAutoFit/>
          </a:bodyPr>
          <a:lstStyle/>
          <a:p>
            <a:pPr algn="l"/>
            <a:r>
              <a:rPr sz="3800" b="1">
                <a:solidFill>
                  <a:srgbClr val="FFFFFF"/>
                </a:solidFill>
                <a:latin typeface="Calibri"/>
              </a:rPr>
              <a:t>Eliminating the Manual Work
Between Payment Receipt
and Closed Receivables</a:t>
            </a:r>
          </a:p>
        </p:txBody>
      </p:sp>
      <p:sp>
        <p:nvSpPr>
          <p:cNvPr id="5" name="Rectangle 4"/>
          <p:cNvSpPr/>
          <p:nvPr/>
        </p:nvSpPr>
        <p:spPr>
          <a:xfrm>
            <a:off x="365760" y="3429000"/>
            <a:ext cx="1143000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584448"/>
            <a:ext cx="6400800" cy="457200"/>
          </a:xfrm>
          <a:prstGeom prst="rect">
            <a:avLst/>
          </a:prstGeom>
          <a:noFill/>
        </p:spPr>
        <p:txBody>
          <a:bodyPr wrap="square">
            <a:spAutoFit/>
          </a:bodyPr>
          <a:lstStyle/>
          <a:p>
            <a:pPr algn="l"/>
            <a:r>
              <a:rPr sz="1600" b="0">
                <a:solidFill>
                  <a:srgbClr val="B0BEC5"/>
                </a:solidFill>
                <a:latin typeface="Calibri"/>
              </a:rPr>
              <a:t>Prepared for:  Peter Sukits, Senior Finance Leader</a:t>
            </a:r>
          </a:p>
        </p:txBody>
      </p:sp>
      <p:sp>
        <p:nvSpPr>
          <p:cNvPr id="7" name="TextBox 6"/>
          <p:cNvSpPr txBox="1"/>
          <p:nvPr/>
        </p:nvSpPr>
        <p:spPr>
          <a:xfrm>
            <a:off x="502920" y="4041648"/>
            <a:ext cx="6400800" cy="457200"/>
          </a:xfrm>
          <a:prstGeom prst="rect">
            <a:avLst/>
          </a:prstGeom>
          <a:noFill/>
        </p:spPr>
        <p:txBody>
          <a:bodyPr wrap="square">
            <a:spAutoFit/>
          </a:bodyPr>
          <a:lstStyle/>
          <a:p>
            <a:pPr algn="l"/>
            <a:r>
              <a:rPr sz="1400" b="0">
                <a:solidFill>
                  <a:srgbClr val="B0BEC5"/>
                </a:solidFill>
                <a:latin typeface="Calibri"/>
              </a:rPr>
              <a:t>LunarLogic  ·  Jonathan Rodriguez  ·  May 2026</a:t>
            </a:r>
          </a:p>
        </p:txBody>
      </p:sp>
      <p:sp>
        <p:nvSpPr>
          <p:cNvPr id="8" name="Rectangle 7"/>
          <p:cNvSpPr/>
          <p:nvPr/>
        </p:nvSpPr>
        <p:spPr>
          <a:xfrm>
            <a:off x="7772400" y="2651760"/>
            <a:ext cx="4023360" cy="30175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2834640"/>
            <a:ext cx="3840480" cy="457200"/>
          </a:xfrm>
          <a:prstGeom prst="rect">
            <a:avLst/>
          </a:prstGeom>
          <a:noFill/>
        </p:spPr>
        <p:txBody>
          <a:bodyPr wrap="square">
            <a:spAutoFit/>
          </a:bodyPr>
          <a:lstStyle/>
          <a:p>
            <a:pPr algn="ctr"/>
            <a:r>
              <a:rPr sz="1300" b="0">
                <a:solidFill>
                  <a:srgbClr val="B0BEC5"/>
                </a:solidFill>
                <a:latin typeface="Calibri"/>
              </a:rPr>
              <a:t>Clients see an average of</a:t>
            </a:r>
          </a:p>
        </p:txBody>
      </p:sp>
      <p:sp>
        <p:nvSpPr>
          <p:cNvPr id="10" name="TextBox 9"/>
          <p:cNvSpPr txBox="1"/>
          <p:nvPr/>
        </p:nvSpPr>
        <p:spPr>
          <a:xfrm>
            <a:off x="7863840" y="3218688"/>
            <a:ext cx="3840480" cy="960120"/>
          </a:xfrm>
          <a:prstGeom prst="rect">
            <a:avLst/>
          </a:prstGeom>
          <a:noFill/>
        </p:spPr>
        <p:txBody>
          <a:bodyPr wrap="square">
            <a:spAutoFit/>
          </a:bodyPr>
          <a:lstStyle/>
          <a:p>
            <a:pPr algn="ctr"/>
            <a:r>
              <a:rPr sz="5400" b="1">
                <a:solidFill>
                  <a:srgbClr val="00C2FF"/>
                </a:solidFill>
                <a:latin typeface="Calibri"/>
              </a:rPr>
              <a:t>19-Day</a:t>
            </a:r>
          </a:p>
        </p:txBody>
      </p:sp>
      <p:sp>
        <p:nvSpPr>
          <p:cNvPr id="11" name="TextBox 10"/>
          <p:cNvSpPr txBox="1"/>
          <p:nvPr/>
        </p:nvSpPr>
        <p:spPr>
          <a:xfrm>
            <a:off x="7863840" y="4114800"/>
            <a:ext cx="3840480" cy="457200"/>
          </a:xfrm>
          <a:prstGeom prst="rect">
            <a:avLst/>
          </a:prstGeom>
          <a:noFill/>
        </p:spPr>
        <p:txBody>
          <a:bodyPr wrap="square">
            <a:spAutoFit/>
          </a:bodyPr>
          <a:lstStyle/>
          <a:p>
            <a:pPr algn="ctr"/>
            <a:r>
              <a:rPr sz="1600" b="0">
                <a:solidFill>
                  <a:srgbClr val="FFFFFF"/>
                </a:solidFill>
                <a:latin typeface="Calibri"/>
              </a:rPr>
              <a:t>DSO reduction after go-live</a:t>
            </a:r>
          </a:p>
        </p:txBody>
      </p:sp>
      <p:sp>
        <p:nvSpPr>
          <p:cNvPr id="12" name="TextBox 11"/>
          <p:cNvSpPr txBox="1"/>
          <p:nvPr/>
        </p:nvSpPr>
        <p:spPr>
          <a:xfrm>
            <a:off x="7863840" y="4617720"/>
            <a:ext cx="3840480" cy="365760"/>
          </a:xfrm>
          <a:prstGeom prst="rect">
            <a:avLst/>
          </a:prstGeom>
          <a:noFill/>
        </p:spPr>
        <p:txBody>
          <a:bodyPr wrap="square">
            <a:spAutoFit/>
          </a:bodyPr>
          <a:lstStyle/>
          <a:p>
            <a:pPr algn="ctr"/>
            <a:r>
              <a:rPr sz="1100" b="0">
                <a:solidFill>
                  <a:srgbClr val="B0BEC5"/>
                </a:solidFill>
                <a:latin typeface="Calibri"/>
              </a:rPr>
              <a:t>— Kaptain Clean LLC, anchor client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365760" y="274320"/>
            <a:ext cx="11430000" cy="548640"/>
          </a:xfrm>
          <a:prstGeom prst="rect">
            <a:avLst/>
          </a:prstGeom>
          <a:noFill/>
        </p:spPr>
        <p:txBody>
          <a:bodyPr wrap="square">
            <a:spAutoFit/>
          </a:bodyPr>
          <a:lstStyle/>
          <a:p>
            <a:pPr algn="l"/>
            <a:r>
              <a:rPr sz="1100" b="1">
                <a:solidFill>
                  <a:srgbClr val="00C2FF"/>
                </a:solidFill>
                <a:latin typeface="Calibri"/>
              </a:rPr>
              <a:t>THE PROBLEM</a:t>
            </a:r>
          </a:p>
        </p:txBody>
      </p:sp>
      <p:sp>
        <p:nvSpPr>
          <p:cNvPr id="3" name="TextBox 2"/>
          <p:cNvSpPr txBox="1"/>
          <p:nvPr/>
        </p:nvSpPr>
        <p:spPr>
          <a:xfrm>
            <a:off x="365760" y="685800"/>
            <a:ext cx="10972800" cy="777240"/>
          </a:xfrm>
          <a:prstGeom prst="rect">
            <a:avLst/>
          </a:prstGeom>
          <a:noFill/>
        </p:spPr>
        <p:txBody>
          <a:bodyPr wrap="square">
            <a:spAutoFit/>
          </a:bodyPr>
          <a:lstStyle/>
          <a:p>
            <a:pPr algn="l"/>
            <a:r>
              <a:rPr sz="2700" b="1">
                <a:solidFill>
                  <a:srgbClr val="FFFFFF"/>
                </a:solidFill>
                <a:latin typeface="Calibri"/>
              </a:rPr>
              <a:t>Payments Arrive From Everywhere — Matching Them Is a Manual Nightmare</a:t>
            </a:r>
          </a:p>
        </p:txBody>
      </p:sp>
      <p:sp>
        <p:nvSpPr>
          <p:cNvPr id="4" name="Rectangle 3"/>
          <p:cNvSpPr/>
          <p:nvPr/>
        </p:nvSpPr>
        <p:spPr>
          <a:xfrm>
            <a:off x="365760" y="1627632"/>
            <a:ext cx="1143000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874519"/>
            <a:ext cx="5029200" cy="713232"/>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7840" y="1874519"/>
            <a:ext cx="6217920" cy="713232"/>
          </a:xfrm>
          <a:prstGeom prst="rect">
            <a:avLst/>
          </a:prstGeom>
          <a:solidFill>
            <a:srgbClr val="0F22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947672"/>
            <a:ext cx="4754880" cy="548640"/>
          </a:xfrm>
          <a:prstGeom prst="rect">
            <a:avLst/>
          </a:prstGeom>
          <a:noFill/>
        </p:spPr>
        <p:txBody>
          <a:bodyPr wrap="square">
            <a:spAutoFit/>
          </a:bodyPr>
          <a:lstStyle/>
          <a:p>
            <a:pPr algn="l"/>
            <a:r>
              <a:rPr sz="1400" b="1">
                <a:solidFill>
                  <a:srgbClr val="FF6B35"/>
                </a:solidFill>
                <a:latin typeface="Calibri"/>
              </a:rPr>
              <a:t>⚠  ACH &amp; Wire Transfers</a:t>
            </a:r>
          </a:p>
        </p:txBody>
      </p:sp>
      <p:sp>
        <p:nvSpPr>
          <p:cNvPr id="8" name="TextBox 7"/>
          <p:cNvSpPr txBox="1"/>
          <p:nvPr/>
        </p:nvSpPr>
        <p:spPr>
          <a:xfrm>
            <a:off x="5669280" y="1947672"/>
            <a:ext cx="5943600" cy="566928"/>
          </a:xfrm>
          <a:prstGeom prst="rect">
            <a:avLst/>
          </a:prstGeom>
          <a:noFill/>
        </p:spPr>
        <p:txBody>
          <a:bodyPr wrap="square">
            <a:spAutoFit/>
          </a:bodyPr>
          <a:lstStyle/>
          <a:p>
            <a:pPr algn="l"/>
            <a:r>
              <a:rPr sz="1300" b="0">
                <a:solidFill>
                  <a:srgbClr val="B0BEC5"/>
                </a:solidFill>
                <a:latin typeface="Calibri"/>
              </a:rPr>
              <a:t>Reference fields are truncated or missing — impossible to auto-match without manual investigation.</a:t>
            </a:r>
          </a:p>
        </p:txBody>
      </p:sp>
      <p:sp>
        <p:nvSpPr>
          <p:cNvPr id="9" name="Rectangle 8"/>
          <p:cNvSpPr/>
          <p:nvPr/>
        </p:nvSpPr>
        <p:spPr>
          <a:xfrm>
            <a:off x="365760" y="2715768"/>
            <a:ext cx="5029200" cy="713232"/>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0" y="2715768"/>
            <a:ext cx="6217920" cy="713232"/>
          </a:xfrm>
          <a:prstGeom prst="rect">
            <a:avLst/>
          </a:prstGeom>
          <a:solidFill>
            <a:srgbClr val="0F22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788920"/>
            <a:ext cx="4754880" cy="548640"/>
          </a:xfrm>
          <a:prstGeom prst="rect">
            <a:avLst/>
          </a:prstGeom>
          <a:noFill/>
        </p:spPr>
        <p:txBody>
          <a:bodyPr wrap="square">
            <a:spAutoFit/>
          </a:bodyPr>
          <a:lstStyle/>
          <a:p>
            <a:pPr algn="l"/>
            <a:r>
              <a:rPr sz="1400" b="1">
                <a:solidFill>
                  <a:srgbClr val="FF6B35"/>
                </a:solidFill>
                <a:latin typeface="Calibri"/>
              </a:rPr>
              <a:t>⚠  Check Payments</a:t>
            </a:r>
          </a:p>
        </p:txBody>
      </p:sp>
      <p:sp>
        <p:nvSpPr>
          <p:cNvPr id="12" name="TextBox 11"/>
          <p:cNvSpPr txBox="1"/>
          <p:nvPr/>
        </p:nvSpPr>
        <p:spPr>
          <a:xfrm>
            <a:off x="5669280" y="2788920"/>
            <a:ext cx="5943600" cy="566928"/>
          </a:xfrm>
          <a:prstGeom prst="rect">
            <a:avLst/>
          </a:prstGeom>
          <a:noFill/>
        </p:spPr>
        <p:txBody>
          <a:bodyPr wrap="square">
            <a:spAutoFit/>
          </a:bodyPr>
          <a:lstStyle/>
          <a:p>
            <a:pPr algn="l"/>
            <a:r>
              <a:rPr sz="1300" b="0">
                <a:solidFill>
                  <a:srgbClr val="B0BEC5"/>
                </a:solidFill>
                <a:latin typeface="Calibri"/>
              </a:rPr>
              <a:t>Remittance detail lives on a paper stub or scanned PDF, completely disconnected from your ERP.</a:t>
            </a:r>
          </a:p>
        </p:txBody>
      </p:sp>
      <p:sp>
        <p:nvSpPr>
          <p:cNvPr id="13" name="Rectangle 12"/>
          <p:cNvSpPr/>
          <p:nvPr/>
        </p:nvSpPr>
        <p:spPr>
          <a:xfrm>
            <a:off x="365760" y="3557015"/>
            <a:ext cx="5029200" cy="713232"/>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557015"/>
            <a:ext cx="6217920" cy="713232"/>
          </a:xfrm>
          <a:prstGeom prst="rect">
            <a:avLst/>
          </a:prstGeom>
          <a:solidFill>
            <a:srgbClr val="0F22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630168"/>
            <a:ext cx="4754880" cy="548640"/>
          </a:xfrm>
          <a:prstGeom prst="rect">
            <a:avLst/>
          </a:prstGeom>
          <a:noFill/>
        </p:spPr>
        <p:txBody>
          <a:bodyPr wrap="square">
            <a:spAutoFit/>
          </a:bodyPr>
          <a:lstStyle/>
          <a:p>
            <a:pPr algn="l"/>
            <a:r>
              <a:rPr sz="1400" b="1">
                <a:solidFill>
                  <a:srgbClr val="FF6B35"/>
                </a:solidFill>
                <a:latin typeface="Calibri"/>
              </a:rPr>
              <a:t>⚠  Customer Portal &amp; Card Payments</a:t>
            </a:r>
          </a:p>
        </p:txBody>
      </p:sp>
      <p:sp>
        <p:nvSpPr>
          <p:cNvPr id="16" name="TextBox 15"/>
          <p:cNvSpPr txBox="1"/>
          <p:nvPr/>
        </p:nvSpPr>
        <p:spPr>
          <a:xfrm>
            <a:off x="5669280" y="3630168"/>
            <a:ext cx="5943600" cy="566928"/>
          </a:xfrm>
          <a:prstGeom prst="rect">
            <a:avLst/>
          </a:prstGeom>
          <a:noFill/>
        </p:spPr>
        <p:txBody>
          <a:bodyPr wrap="square">
            <a:spAutoFit/>
          </a:bodyPr>
          <a:lstStyle/>
          <a:p>
            <a:pPr algn="l"/>
            <a:r>
              <a:rPr sz="1300" b="0">
                <a:solidFill>
                  <a:srgbClr val="B0BEC5"/>
                </a:solidFill>
                <a:latin typeface="Calibri"/>
              </a:rPr>
              <a:t>Portals post lump-sum settlements against multiple invoices — allocations must be untangled manually.</a:t>
            </a:r>
          </a:p>
        </p:txBody>
      </p:sp>
      <p:sp>
        <p:nvSpPr>
          <p:cNvPr id="17" name="Rectangle 16"/>
          <p:cNvSpPr/>
          <p:nvPr/>
        </p:nvSpPr>
        <p:spPr>
          <a:xfrm>
            <a:off x="365760" y="4398264"/>
            <a:ext cx="5029200" cy="713232"/>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77840" y="4398264"/>
            <a:ext cx="6217920" cy="713232"/>
          </a:xfrm>
          <a:prstGeom prst="rect">
            <a:avLst/>
          </a:prstGeom>
          <a:solidFill>
            <a:srgbClr val="0F22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471416"/>
            <a:ext cx="4754880" cy="548640"/>
          </a:xfrm>
          <a:prstGeom prst="rect">
            <a:avLst/>
          </a:prstGeom>
          <a:noFill/>
        </p:spPr>
        <p:txBody>
          <a:bodyPr wrap="square">
            <a:spAutoFit/>
          </a:bodyPr>
          <a:lstStyle/>
          <a:p>
            <a:pPr algn="l"/>
            <a:r>
              <a:rPr sz="1400" b="1">
                <a:solidFill>
                  <a:srgbClr val="FF6B35"/>
                </a:solidFill>
                <a:latin typeface="Calibri"/>
              </a:rPr>
              <a:t>⚠  Partial &amp; Split Payments</a:t>
            </a:r>
          </a:p>
        </p:txBody>
      </p:sp>
      <p:sp>
        <p:nvSpPr>
          <p:cNvPr id="20" name="TextBox 19"/>
          <p:cNvSpPr txBox="1"/>
          <p:nvPr/>
        </p:nvSpPr>
        <p:spPr>
          <a:xfrm>
            <a:off x="5669280" y="4471416"/>
            <a:ext cx="5943600" cy="566928"/>
          </a:xfrm>
          <a:prstGeom prst="rect">
            <a:avLst/>
          </a:prstGeom>
          <a:noFill/>
        </p:spPr>
        <p:txBody>
          <a:bodyPr wrap="square">
            <a:spAutoFit/>
          </a:bodyPr>
          <a:lstStyle/>
          <a:p>
            <a:pPr algn="l"/>
            <a:r>
              <a:rPr sz="1300" b="0">
                <a:solidFill>
                  <a:srgbClr val="B0BEC5"/>
                </a:solidFill>
                <a:latin typeface="Calibri"/>
              </a:rPr>
              <a:t>Short-pays and installments require judgment calls on which invoice to apply against first.</a:t>
            </a:r>
          </a:p>
        </p:txBody>
      </p:sp>
      <p:sp>
        <p:nvSpPr>
          <p:cNvPr id="21" name="Rectangle 20"/>
          <p:cNvSpPr/>
          <p:nvPr/>
        </p:nvSpPr>
        <p:spPr>
          <a:xfrm>
            <a:off x="365760" y="5239512"/>
            <a:ext cx="5029200" cy="713232"/>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77840" y="5239512"/>
            <a:ext cx="6217920" cy="713232"/>
          </a:xfrm>
          <a:prstGeom prst="rect">
            <a:avLst/>
          </a:prstGeom>
          <a:solidFill>
            <a:srgbClr val="0F22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312664"/>
            <a:ext cx="4754880" cy="548640"/>
          </a:xfrm>
          <a:prstGeom prst="rect">
            <a:avLst/>
          </a:prstGeom>
          <a:noFill/>
        </p:spPr>
        <p:txBody>
          <a:bodyPr wrap="square">
            <a:spAutoFit/>
          </a:bodyPr>
          <a:lstStyle/>
          <a:p>
            <a:pPr algn="l"/>
            <a:r>
              <a:rPr sz="1400" b="1">
                <a:solidFill>
                  <a:srgbClr val="FF6B35"/>
                </a:solidFill>
                <a:latin typeface="Calibri"/>
              </a:rPr>
              <a:t>⚠  Volume &amp; Velocity</a:t>
            </a:r>
          </a:p>
        </p:txBody>
      </p:sp>
      <p:sp>
        <p:nvSpPr>
          <p:cNvPr id="24" name="TextBox 23"/>
          <p:cNvSpPr txBox="1"/>
          <p:nvPr/>
        </p:nvSpPr>
        <p:spPr>
          <a:xfrm>
            <a:off x="5669280" y="5312664"/>
            <a:ext cx="5943600" cy="566928"/>
          </a:xfrm>
          <a:prstGeom prst="rect">
            <a:avLst/>
          </a:prstGeom>
          <a:noFill/>
        </p:spPr>
        <p:txBody>
          <a:bodyPr wrap="square">
            <a:spAutoFit/>
          </a:bodyPr>
          <a:lstStyle/>
          <a:p>
            <a:pPr algn="l"/>
            <a:r>
              <a:rPr sz="1300" b="0">
                <a:solidFill>
                  <a:srgbClr val="B0BEC5"/>
                </a:solidFill>
                <a:latin typeface="Calibri"/>
              </a:rPr>
              <a:t>Finance teams lose 4–8 hours per week on cash application — time that should go to analysis, not data entry.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365760" y="274320"/>
            <a:ext cx="11430000" cy="548640"/>
          </a:xfrm>
          <a:prstGeom prst="rect">
            <a:avLst/>
          </a:prstGeom>
          <a:noFill/>
        </p:spPr>
        <p:txBody>
          <a:bodyPr wrap="square">
            <a:spAutoFit/>
          </a:bodyPr>
          <a:lstStyle/>
          <a:p>
            <a:pPr algn="l"/>
            <a:r>
              <a:rPr sz="1100" b="1">
                <a:solidFill>
                  <a:srgbClr val="00C2FF"/>
                </a:solidFill>
                <a:latin typeface="Calibri"/>
              </a:rPr>
              <a:t>THE REAL COST</a:t>
            </a:r>
          </a:p>
        </p:txBody>
      </p:sp>
      <p:sp>
        <p:nvSpPr>
          <p:cNvPr id="3" name="TextBox 2"/>
          <p:cNvSpPr txBox="1"/>
          <p:nvPr/>
        </p:nvSpPr>
        <p:spPr>
          <a:xfrm>
            <a:off x="365760" y="685800"/>
            <a:ext cx="10972800" cy="777240"/>
          </a:xfrm>
          <a:prstGeom prst="rect">
            <a:avLst/>
          </a:prstGeom>
          <a:noFill/>
        </p:spPr>
        <p:txBody>
          <a:bodyPr wrap="square">
            <a:spAutoFit/>
          </a:bodyPr>
          <a:lstStyle/>
          <a:p>
            <a:pPr algn="l"/>
            <a:r>
              <a:rPr sz="2700" b="1">
                <a:solidFill>
                  <a:srgbClr val="FFFFFF"/>
                </a:solidFill>
                <a:latin typeface="Calibri"/>
              </a:rPr>
              <a:t>Manual Cash Application Is a Revenue and Efficiency Problem</a:t>
            </a:r>
          </a:p>
        </p:txBody>
      </p:sp>
      <p:sp>
        <p:nvSpPr>
          <p:cNvPr id="4" name="Rectangle 3"/>
          <p:cNvSpPr/>
          <p:nvPr/>
        </p:nvSpPr>
        <p:spPr>
          <a:xfrm>
            <a:off x="365760" y="1627632"/>
            <a:ext cx="1143000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920240"/>
            <a:ext cx="2743200" cy="41605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8" y="2103120"/>
            <a:ext cx="2560320" cy="914400"/>
          </a:xfrm>
          <a:prstGeom prst="rect">
            <a:avLst/>
          </a:prstGeom>
          <a:noFill/>
        </p:spPr>
        <p:txBody>
          <a:bodyPr wrap="square">
            <a:spAutoFit/>
          </a:bodyPr>
          <a:lstStyle/>
          <a:p>
            <a:pPr algn="ctr"/>
            <a:r>
              <a:rPr sz="4200" b="1">
                <a:solidFill>
                  <a:srgbClr val="FF6B35"/>
                </a:solidFill>
                <a:latin typeface="Calibri"/>
              </a:rPr>
              <a:t>4–8 hrs</a:t>
            </a:r>
          </a:p>
        </p:txBody>
      </p:sp>
      <p:sp>
        <p:nvSpPr>
          <p:cNvPr id="7" name="TextBox 6"/>
          <p:cNvSpPr txBox="1"/>
          <p:nvPr/>
        </p:nvSpPr>
        <p:spPr>
          <a:xfrm>
            <a:off x="429768" y="2907792"/>
            <a:ext cx="2560320" cy="411480"/>
          </a:xfrm>
          <a:prstGeom prst="rect">
            <a:avLst/>
          </a:prstGeom>
          <a:noFill/>
        </p:spPr>
        <p:txBody>
          <a:bodyPr wrap="square">
            <a:spAutoFit/>
          </a:bodyPr>
          <a:lstStyle/>
          <a:p>
            <a:pPr algn="ctr"/>
            <a:r>
              <a:rPr sz="1300" b="0">
                <a:solidFill>
                  <a:srgbClr val="B0BEC5"/>
                </a:solidFill>
                <a:latin typeface="Calibri"/>
              </a:rPr>
              <a:t>per week</a:t>
            </a:r>
          </a:p>
        </p:txBody>
      </p:sp>
      <p:sp>
        <p:nvSpPr>
          <p:cNvPr id="8" name="Rectangle 7"/>
          <p:cNvSpPr/>
          <p:nvPr/>
        </p:nvSpPr>
        <p:spPr>
          <a:xfrm>
            <a:off x="594359" y="3410712"/>
            <a:ext cx="219456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3547872"/>
            <a:ext cx="2606040" cy="822960"/>
          </a:xfrm>
          <a:prstGeom prst="rect">
            <a:avLst/>
          </a:prstGeom>
          <a:noFill/>
        </p:spPr>
        <p:txBody>
          <a:bodyPr wrap="square">
            <a:spAutoFit/>
          </a:bodyPr>
          <a:lstStyle/>
          <a:p>
            <a:pPr algn="ctr"/>
            <a:r>
              <a:rPr sz="1300" b="0">
                <a:solidFill>
                  <a:srgbClr val="FFFFFF"/>
                </a:solidFill>
                <a:latin typeface="Calibri"/>
              </a:rPr>
              <a:t>staff time consumed
by manual matching</a:t>
            </a:r>
          </a:p>
        </p:txBody>
      </p:sp>
      <p:sp>
        <p:nvSpPr>
          <p:cNvPr id="10" name="Rectangle 9"/>
          <p:cNvSpPr/>
          <p:nvPr/>
        </p:nvSpPr>
        <p:spPr>
          <a:xfrm>
            <a:off x="3227832" y="1920240"/>
            <a:ext cx="2743200" cy="41605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2103120"/>
            <a:ext cx="2560320" cy="914400"/>
          </a:xfrm>
          <a:prstGeom prst="rect">
            <a:avLst/>
          </a:prstGeom>
          <a:noFill/>
        </p:spPr>
        <p:txBody>
          <a:bodyPr wrap="square">
            <a:spAutoFit/>
          </a:bodyPr>
          <a:lstStyle/>
          <a:p>
            <a:pPr algn="ctr"/>
            <a:r>
              <a:rPr sz="4200" b="1">
                <a:solidFill>
                  <a:srgbClr val="FF6B35"/>
                </a:solidFill>
                <a:latin typeface="Calibri"/>
              </a:rPr>
              <a:t>3–5 days</a:t>
            </a:r>
          </a:p>
        </p:txBody>
      </p:sp>
      <p:sp>
        <p:nvSpPr>
          <p:cNvPr id="12" name="TextBox 11"/>
          <p:cNvSpPr txBox="1"/>
          <p:nvPr/>
        </p:nvSpPr>
        <p:spPr>
          <a:xfrm>
            <a:off x="3337560" y="2907792"/>
            <a:ext cx="2560320" cy="411480"/>
          </a:xfrm>
          <a:prstGeom prst="rect">
            <a:avLst/>
          </a:prstGeom>
          <a:noFill/>
        </p:spPr>
        <p:txBody>
          <a:bodyPr wrap="square">
            <a:spAutoFit/>
          </a:bodyPr>
          <a:lstStyle/>
          <a:p>
            <a:pPr algn="ctr"/>
            <a:r>
              <a:rPr sz="1300" b="0">
                <a:solidFill>
                  <a:srgbClr val="B0BEC5"/>
                </a:solidFill>
                <a:latin typeface="Calibri"/>
              </a:rPr>
              <a:t>average lag</a:t>
            </a:r>
          </a:p>
        </p:txBody>
      </p:sp>
      <p:sp>
        <p:nvSpPr>
          <p:cNvPr id="13" name="Rectangle 12"/>
          <p:cNvSpPr/>
          <p:nvPr/>
        </p:nvSpPr>
        <p:spPr>
          <a:xfrm>
            <a:off x="3502152" y="3410712"/>
            <a:ext cx="219456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19272" y="3547872"/>
            <a:ext cx="2606040" cy="822960"/>
          </a:xfrm>
          <a:prstGeom prst="rect">
            <a:avLst/>
          </a:prstGeom>
          <a:noFill/>
        </p:spPr>
        <p:txBody>
          <a:bodyPr wrap="square">
            <a:spAutoFit/>
          </a:bodyPr>
          <a:lstStyle/>
          <a:p>
            <a:pPr algn="ctr"/>
            <a:r>
              <a:rPr sz="1300" b="0">
                <a:solidFill>
                  <a:srgbClr val="FFFFFF"/>
                </a:solidFill>
                <a:latin typeface="Calibri"/>
              </a:rPr>
              <a:t>from payment receipt
to ledger close</a:t>
            </a:r>
          </a:p>
        </p:txBody>
      </p:sp>
      <p:sp>
        <p:nvSpPr>
          <p:cNvPr id="15" name="Rectangle 14"/>
          <p:cNvSpPr/>
          <p:nvPr/>
        </p:nvSpPr>
        <p:spPr>
          <a:xfrm>
            <a:off x="6135624" y="1920240"/>
            <a:ext cx="2743200" cy="41605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45352" y="2103120"/>
            <a:ext cx="2560320" cy="914400"/>
          </a:xfrm>
          <a:prstGeom prst="rect">
            <a:avLst/>
          </a:prstGeom>
          <a:noFill/>
        </p:spPr>
        <p:txBody>
          <a:bodyPr wrap="square">
            <a:spAutoFit/>
          </a:bodyPr>
          <a:lstStyle/>
          <a:p>
            <a:pPr algn="ctr"/>
            <a:r>
              <a:rPr sz="4200" b="1">
                <a:solidFill>
                  <a:srgbClr val="FF6B35"/>
                </a:solidFill>
                <a:latin typeface="Calibri"/>
              </a:rPr>
              <a:t>$15–40K</a:t>
            </a:r>
          </a:p>
        </p:txBody>
      </p:sp>
      <p:sp>
        <p:nvSpPr>
          <p:cNvPr id="17" name="TextBox 16"/>
          <p:cNvSpPr txBox="1"/>
          <p:nvPr/>
        </p:nvSpPr>
        <p:spPr>
          <a:xfrm>
            <a:off x="6245352" y="2907792"/>
            <a:ext cx="2560320" cy="411480"/>
          </a:xfrm>
          <a:prstGeom prst="rect">
            <a:avLst/>
          </a:prstGeom>
          <a:noFill/>
        </p:spPr>
        <p:txBody>
          <a:bodyPr wrap="square">
            <a:spAutoFit/>
          </a:bodyPr>
          <a:lstStyle/>
          <a:p>
            <a:pPr algn="ctr"/>
            <a:r>
              <a:rPr sz="1300" b="0">
                <a:solidFill>
                  <a:srgbClr val="B0BEC5"/>
                </a:solidFill>
                <a:latin typeface="Calibri"/>
              </a:rPr>
              <a:t>annual cost</a:t>
            </a:r>
          </a:p>
        </p:txBody>
      </p:sp>
      <p:sp>
        <p:nvSpPr>
          <p:cNvPr id="18" name="Rectangle 17"/>
          <p:cNvSpPr/>
          <p:nvPr/>
        </p:nvSpPr>
        <p:spPr>
          <a:xfrm>
            <a:off x="6409944" y="3410712"/>
            <a:ext cx="219456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7064" y="3547872"/>
            <a:ext cx="2606040" cy="822960"/>
          </a:xfrm>
          <a:prstGeom prst="rect">
            <a:avLst/>
          </a:prstGeom>
          <a:noFill/>
        </p:spPr>
        <p:txBody>
          <a:bodyPr wrap="square">
            <a:spAutoFit/>
          </a:bodyPr>
          <a:lstStyle/>
          <a:p>
            <a:pPr algn="ctr"/>
            <a:r>
              <a:rPr sz="1300" b="0">
                <a:solidFill>
                  <a:srgbClr val="FFFFFF"/>
                </a:solidFill>
                <a:latin typeface="Calibri"/>
              </a:rPr>
              <a:t>fully-loaded cost of
errors, rework &amp; delays</a:t>
            </a:r>
          </a:p>
        </p:txBody>
      </p:sp>
      <p:sp>
        <p:nvSpPr>
          <p:cNvPr id="20" name="Rectangle 19"/>
          <p:cNvSpPr/>
          <p:nvPr/>
        </p:nvSpPr>
        <p:spPr>
          <a:xfrm>
            <a:off x="9043416" y="1920240"/>
            <a:ext cx="2743200" cy="41605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53144" y="2103120"/>
            <a:ext cx="2560320" cy="914400"/>
          </a:xfrm>
          <a:prstGeom prst="rect">
            <a:avLst/>
          </a:prstGeom>
          <a:noFill/>
        </p:spPr>
        <p:txBody>
          <a:bodyPr wrap="square">
            <a:spAutoFit/>
          </a:bodyPr>
          <a:lstStyle/>
          <a:p>
            <a:pPr algn="ctr"/>
            <a:r>
              <a:rPr sz="4200" b="1">
                <a:solidFill>
                  <a:srgbClr val="FF6B35"/>
                </a:solidFill>
                <a:latin typeface="Calibri"/>
              </a:rPr>
              <a:t>+5 Days</a:t>
            </a:r>
          </a:p>
        </p:txBody>
      </p:sp>
      <p:sp>
        <p:nvSpPr>
          <p:cNvPr id="22" name="TextBox 21"/>
          <p:cNvSpPr txBox="1"/>
          <p:nvPr/>
        </p:nvSpPr>
        <p:spPr>
          <a:xfrm>
            <a:off x="9153144" y="2907792"/>
            <a:ext cx="2560320" cy="411480"/>
          </a:xfrm>
          <a:prstGeom prst="rect">
            <a:avLst/>
          </a:prstGeom>
          <a:noFill/>
        </p:spPr>
        <p:txBody>
          <a:bodyPr wrap="square">
            <a:spAutoFit/>
          </a:bodyPr>
          <a:lstStyle/>
          <a:p>
            <a:pPr algn="ctr"/>
            <a:r>
              <a:rPr sz="1300" b="0">
                <a:solidFill>
                  <a:srgbClr val="B0BEC5"/>
                </a:solidFill>
                <a:latin typeface="Calibri"/>
              </a:rPr>
              <a:t>hidden DSO</a:t>
            </a:r>
          </a:p>
        </p:txBody>
      </p:sp>
      <p:sp>
        <p:nvSpPr>
          <p:cNvPr id="23" name="Rectangle 22"/>
          <p:cNvSpPr/>
          <p:nvPr/>
        </p:nvSpPr>
        <p:spPr>
          <a:xfrm>
            <a:off x="9317736" y="3410712"/>
            <a:ext cx="219456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856" y="3547872"/>
            <a:ext cx="2606040" cy="822960"/>
          </a:xfrm>
          <a:prstGeom prst="rect">
            <a:avLst/>
          </a:prstGeom>
          <a:noFill/>
        </p:spPr>
        <p:txBody>
          <a:bodyPr wrap="square">
            <a:spAutoFit/>
          </a:bodyPr>
          <a:lstStyle/>
          <a:p>
            <a:pPr algn="ctr"/>
            <a:r>
              <a:rPr sz="1300" b="0">
                <a:solidFill>
                  <a:srgbClr val="FFFFFF"/>
                </a:solidFill>
                <a:latin typeface="Calibri"/>
              </a:rPr>
              <a:t>from unapplied cash
sitting in suspense</a:t>
            </a:r>
          </a:p>
        </p:txBody>
      </p:sp>
      <p:sp>
        <p:nvSpPr>
          <p:cNvPr id="25" name="TextBox 24"/>
          <p:cNvSpPr txBox="1"/>
          <p:nvPr/>
        </p:nvSpPr>
        <p:spPr>
          <a:xfrm>
            <a:off x="365760" y="6309360"/>
            <a:ext cx="11430000" cy="347472"/>
          </a:xfrm>
          <a:prstGeom prst="rect">
            <a:avLst/>
          </a:prstGeom>
          <a:noFill/>
        </p:spPr>
        <p:txBody>
          <a:bodyPr wrap="square">
            <a:spAutoFit/>
          </a:bodyPr>
          <a:lstStyle/>
          <a:p>
            <a:pPr algn="l"/>
            <a:r>
              <a:rPr sz="1000" b="0">
                <a:solidFill>
                  <a:srgbClr val="B0BEC5"/>
                </a:solidFill>
                <a:latin typeface="Calibri"/>
              </a:rPr>
              <a:t>Benchmarks based on professional services firms with 8–20 employees and 100–400 invoices/month.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365760" y="274320"/>
            <a:ext cx="11430000" cy="548640"/>
          </a:xfrm>
          <a:prstGeom prst="rect">
            <a:avLst/>
          </a:prstGeom>
          <a:noFill/>
        </p:spPr>
        <p:txBody>
          <a:bodyPr wrap="square">
            <a:spAutoFit/>
          </a:bodyPr>
          <a:lstStyle/>
          <a:p>
            <a:pPr algn="l"/>
            <a:r>
              <a:rPr sz="1100" b="1">
                <a:solidFill>
                  <a:srgbClr val="00C2FF"/>
                </a:solidFill>
                <a:latin typeface="Calibri"/>
              </a:rPr>
              <a:t>THE SOLUTION</a:t>
            </a:r>
          </a:p>
        </p:txBody>
      </p:sp>
      <p:sp>
        <p:nvSpPr>
          <p:cNvPr id="3" name="TextBox 2"/>
          <p:cNvSpPr txBox="1"/>
          <p:nvPr/>
        </p:nvSpPr>
        <p:spPr>
          <a:xfrm>
            <a:off x="365760" y="685800"/>
            <a:ext cx="10972800" cy="777240"/>
          </a:xfrm>
          <a:prstGeom prst="rect">
            <a:avLst/>
          </a:prstGeom>
          <a:noFill/>
        </p:spPr>
        <p:txBody>
          <a:bodyPr wrap="square">
            <a:spAutoFit/>
          </a:bodyPr>
          <a:lstStyle/>
          <a:p>
            <a:pPr algn="l"/>
            <a:r>
              <a:rPr sz="2700" b="1">
                <a:solidFill>
                  <a:srgbClr val="FFFFFF"/>
                </a:solidFill>
                <a:latin typeface="Calibri"/>
              </a:rPr>
              <a:t>LunarLogic Cash Application — Automated End-to-End</a:t>
            </a:r>
          </a:p>
        </p:txBody>
      </p:sp>
      <p:sp>
        <p:nvSpPr>
          <p:cNvPr id="4" name="Rectangle 3"/>
          <p:cNvSpPr/>
          <p:nvPr/>
        </p:nvSpPr>
        <p:spPr>
          <a:xfrm>
            <a:off x="365760" y="1627632"/>
            <a:ext cx="1143000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828800"/>
            <a:ext cx="1828800" cy="425196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1920240"/>
            <a:ext cx="1691640" cy="594360"/>
          </a:xfrm>
          <a:prstGeom prst="rect">
            <a:avLst/>
          </a:prstGeom>
          <a:noFill/>
        </p:spPr>
        <p:txBody>
          <a:bodyPr wrap="square">
            <a:spAutoFit/>
          </a:bodyPr>
          <a:lstStyle/>
          <a:p>
            <a:pPr algn="ctr"/>
            <a:r>
              <a:rPr sz="3200" b="1">
                <a:solidFill>
                  <a:srgbClr val="00C2FF"/>
                </a:solidFill>
                <a:latin typeface="Calibri"/>
              </a:rPr>
              <a:t>1</a:t>
            </a:r>
          </a:p>
        </p:txBody>
      </p:sp>
      <p:sp>
        <p:nvSpPr>
          <p:cNvPr id="7" name="TextBox 6"/>
          <p:cNvSpPr txBox="1"/>
          <p:nvPr/>
        </p:nvSpPr>
        <p:spPr>
          <a:xfrm>
            <a:off x="347472" y="2450592"/>
            <a:ext cx="1691640" cy="502920"/>
          </a:xfrm>
          <a:prstGeom prst="rect">
            <a:avLst/>
          </a:prstGeom>
          <a:noFill/>
        </p:spPr>
        <p:txBody>
          <a:bodyPr wrap="square">
            <a:spAutoFit/>
          </a:bodyPr>
          <a:lstStyle/>
          <a:p>
            <a:pPr algn="ctr"/>
            <a:r>
              <a:rPr sz="1200" b="1">
                <a:solidFill>
                  <a:srgbClr val="FFFFFF"/>
                </a:solidFill>
                <a:latin typeface="Calibri"/>
              </a:rPr>
              <a:t>CAPTURE</a:t>
            </a:r>
          </a:p>
        </p:txBody>
      </p:sp>
      <p:sp>
        <p:nvSpPr>
          <p:cNvPr id="8" name="Rectangle 7"/>
          <p:cNvSpPr/>
          <p:nvPr/>
        </p:nvSpPr>
        <p:spPr>
          <a:xfrm>
            <a:off x="457200" y="3044952"/>
            <a:ext cx="150876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3145536"/>
            <a:ext cx="1755648" cy="1783080"/>
          </a:xfrm>
          <a:prstGeom prst="rect">
            <a:avLst/>
          </a:prstGeom>
          <a:noFill/>
        </p:spPr>
        <p:txBody>
          <a:bodyPr wrap="square">
            <a:spAutoFit/>
          </a:bodyPr>
          <a:lstStyle/>
          <a:p>
            <a:pPr algn="ctr"/>
            <a:r>
              <a:rPr sz="1200" b="0">
                <a:solidFill>
                  <a:srgbClr val="B0BEC5"/>
                </a:solidFill>
                <a:latin typeface="Calibri"/>
              </a:rPr>
              <a:t>Real-time bank
feed pulls every
incoming payment
automatically</a:t>
            </a:r>
          </a:p>
        </p:txBody>
      </p:sp>
      <p:sp>
        <p:nvSpPr>
          <p:cNvPr id="10" name="Rectangle 9"/>
          <p:cNvSpPr/>
          <p:nvPr/>
        </p:nvSpPr>
        <p:spPr>
          <a:xfrm>
            <a:off x="2249424" y="1828800"/>
            <a:ext cx="1828800" cy="425196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22576" y="1920240"/>
            <a:ext cx="1691640" cy="594360"/>
          </a:xfrm>
          <a:prstGeom prst="rect">
            <a:avLst/>
          </a:prstGeom>
          <a:noFill/>
        </p:spPr>
        <p:txBody>
          <a:bodyPr wrap="square">
            <a:spAutoFit/>
          </a:bodyPr>
          <a:lstStyle/>
          <a:p>
            <a:pPr algn="ctr"/>
            <a:r>
              <a:rPr sz="3200" b="1">
                <a:solidFill>
                  <a:srgbClr val="00C2FF"/>
                </a:solidFill>
                <a:latin typeface="Calibri"/>
              </a:rPr>
              <a:t>2</a:t>
            </a:r>
          </a:p>
        </p:txBody>
      </p:sp>
      <p:sp>
        <p:nvSpPr>
          <p:cNvPr id="12" name="TextBox 11"/>
          <p:cNvSpPr txBox="1"/>
          <p:nvPr/>
        </p:nvSpPr>
        <p:spPr>
          <a:xfrm>
            <a:off x="2322576" y="2450592"/>
            <a:ext cx="1691640" cy="502920"/>
          </a:xfrm>
          <a:prstGeom prst="rect">
            <a:avLst/>
          </a:prstGeom>
          <a:noFill/>
        </p:spPr>
        <p:txBody>
          <a:bodyPr wrap="square">
            <a:spAutoFit/>
          </a:bodyPr>
          <a:lstStyle/>
          <a:p>
            <a:pPr algn="ctr"/>
            <a:r>
              <a:rPr sz="1200" b="1">
                <a:solidFill>
                  <a:srgbClr val="FFFFFF"/>
                </a:solidFill>
                <a:latin typeface="Calibri"/>
              </a:rPr>
              <a:t>PARSE</a:t>
            </a:r>
          </a:p>
        </p:txBody>
      </p:sp>
      <p:sp>
        <p:nvSpPr>
          <p:cNvPr id="13" name="Rectangle 12"/>
          <p:cNvSpPr/>
          <p:nvPr/>
        </p:nvSpPr>
        <p:spPr>
          <a:xfrm>
            <a:off x="2432304" y="3044952"/>
            <a:ext cx="150876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95144" y="3145536"/>
            <a:ext cx="1755648" cy="1783080"/>
          </a:xfrm>
          <a:prstGeom prst="rect">
            <a:avLst/>
          </a:prstGeom>
          <a:noFill/>
        </p:spPr>
        <p:txBody>
          <a:bodyPr wrap="square">
            <a:spAutoFit/>
          </a:bodyPr>
          <a:lstStyle/>
          <a:p>
            <a:pPr algn="ctr"/>
            <a:r>
              <a:rPr sz="1200" b="0">
                <a:solidFill>
                  <a:srgbClr val="B0BEC5"/>
                </a:solidFill>
                <a:latin typeface="Calibri"/>
              </a:rPr>
              <a:t>AI extracts
remittance data
from any format
or channel</a:t>
            </a:r>
          </a:p>
        </p:txBody>
      </p:sp>
      <p:sp>
        <p:nvSpPr>
          <p:cNvPr id="15" name="Rectangle 14"/>
          <p:cNvSpPr/>
          <p:nvPr/>
        </p:nvSpPr>
        <p:spPr>
          <a:xfrm>
            <a:off x="4224528" y="1828800"/>
            <a:ext cx="1828800" cy="425196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1920240"/>
            <a:ext cx="1691640" cy="594360"/>
          </a:xfrm>
          <a:prstGeom prst="rect">
            <a:avLst/>
          </a:prstGeom>
          <a:noFill/>
        </p:spPr>
        <p:txBody>
          <a:bodyPr wrap="square">
            <a:spAutoFit/>
          </a:bodyPr>
          <a:lstStyle/>
          <a:p>
            <a:pPr algn="ctr"/>
            <a:r>
              <a:rPr sz="3200" b="1">
                <a:solidFill>
                  <a:srgbClr val="00C2FF"/>
                </a:solidFill>
                <a:latin typeface="Calibri"/>
              </a:rPr>
              <a:t>3</a:t>
            </a:r>
          </a:p>
        </p:txBody>
      </p:sp>
      <p:sp>
        <p:nvSpPr>
          <p:cNvPr id="17" name="TextBox 16"/>
          <p:cNvSpPr txBox="1"/>
          <p:nvPr/>
        </p:nvSpPr>
        <p:spPr>
          <a:xfrm>
            <a:off x="4297680" y="2450592"/>
            <a:ext cx="1691640" cy="502920"/>
          </a:xfrm>
          <a:prstGeom prst="rect">
            <a:avLst/>
          </a:prstGeom>
          <a:noFill/>
        </p:spPr>
        <p:txBody>
          <a:bodyPr wrap="square">
            <a:spAutoFit/>
          </a:bodyPr>
          <a:lstStyle/>
          <a:p>
            <a:pPr algn="ctr"/>
            <a:r>
              <a:rPr sz="1200" b="1">
                <a:solidFill>
                  <a:srgbClr val="FFFFFF"/>
                </a:solidFill>
                <a:latin typeface="Calibri"/>
              </a:rPr>
              <a:t>MATCH</a:t>
            </a:r>
          </a:p>
        </p:txBody>
      </p:sp>
      <p:sp>
        <p:nvSpPr>
          <p:cNvPr id="18" name="Rectangle 17"/>
          <p:cNvSpPr/>
          <p:nvPr/>
        </p:nvSpPr>
        <p:spPr>
          <a:xfrm>
            <a:off x="4407408" y="3044952"/>
            <a:ext cx="150876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70248" y="3145536"/>
            <a:ext cx="1755648" cy="1783080"/>
          </a:xfrm>
          <a:prstGeom prst="rect">
            <a:avLst/>
          </a:prstGeom>
          <a:noFill/>
        </p:spPr>
        <p:txBody>
          <a:bodyPr wrap="square">
            <a:spAutoFit/>
          </a:bodyPr>
          <a:lstStyle/>
          <a:p>
            <a:pPr algn="ctr"/>
            <a:r>
              <a:rPr sz="1200" b="0">
                <a:solidFill>
                  <a:srgbClr val="B0BEC5"/>
                </a:solidFill>
                <a:latin typeface="Calibri"/>
              </a:rPr>
              <a:t>Fuzzy-match
engine links
payments to
open invoices</a:t>
            </a:r>
          </a:p>
        </p:txBody>
      </p:sp>
      <p:sp>
        <p:nvSpPr>
          <p:cNvPr id="20" name="Rectangle 19"/>
          <p:cNvSpPr/>
          <p:nvPr/>
        </p:nvSpPr>
        <p:spPr>
          <a:xfrm>
            <a:off x="6199632" y="1828800"/>
            <a:ext cx="1828800" cy="425196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72784" y="1920240"/>
            <a:ext cx="1691640" cy="594360"/>
          </a:xfrm>
          <a:prstGeom prst="rect">
            <a:avLst/>
          </a:prstGeom>
          <a:noFill/>
        </p:spPr>
        <p:txBody>
          <a:bodyPr wrap="square">
            <a:spAutoFit/>
          </a:bodyPr>
          <a:lstStyle/>
          <a:p>
            <a:pPr algn="ctr"/>
            <a:r>
              <a:rPr sz="3200" b="1">
                <a:solidFill>
                  <a:srgbClr val="00C2FF"/>
                </a:solidFill>
                <a:latin typeface="Calibri"/>
              </a:rPr>
              <a:t>4</a:t>
            </a:r>
          </a:p>
        </p:txBody>
      </p:sp>
      <p:sp>
        <p:nvSpPr>
          <p:cNvPr id="22" name="TextBox 21"/>
          <p:cNvSpPr txBox="1"/>
          <p:nvPr/>
        </p:nvSpPr>
        <p:spPr>
          <a:xfrm>
            <a:off x="6272784" y="2450592"/>
            <a:ext cx="1691640" cy="502920"/>
          </a:xfrm>
          <a:prstGeom prst="rect">
            <a:avLst/>
          </a:prstGeom>
          <a:noFill/>
        </p:spPr>
        <p:txBody>
          <a:bodyPr wrap="square">
            <a:spAutoFit/>
          </a:bodyPr>
          <a:lstStyle/>
          <a:p>
            <a:pPr algn="ctr"/>
            <a:r>
              <a:rPr sz="1200" b="1">
                <a:solidFill>
                  <a:srgbClr val="FFFFFF"/>
                </a:solidFill>
                <a:latin typeface="Calibri"/>
              </a:rPr>
              <a:t>AUTO-APPLY</a:t>
            </a:r>
          </a:p>
        </p:txBody>
      </p:sp>
      <p:sp>
        <p:nvSpPr>
          <p:cNvPr id="23" name="Rectangle 22"/>
          <p:cNvSpPr/>
          <p:nvPr/>
        </p:nvSpPr>
        <p:spPr>
          <a:xfrm>
            <a:off x="6382512" y="3044952"/>
            <a:ext cx="150876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5352" y="3145536"/>
            <a:ext cx="1755648" cy="1783080"/>
          </a:xfrm>
          <a:prstGeom prst="rect">
            <a:avLst/>
          </a:prstGeom>
          <a:noFill/>
        </p:spPr>
        <p:txBody>
          <a:bodyPr wrap="square">
            <a:spAutoFit/>
          </a:bodyPr>
          <a:lstStyle/>
          <a:p>
            <a:pPr algn="ctr"/>
            <a:r>
              <a:rPr sz="1200" b="0">
                <a:solidFill>
                  <a:srgbClr val="B0BEC5"/>
                </a:solidFill>
                <a:latin typeface="Calibri"/>
              </a:rPr>
              <a:t>High-confidence
matches post to
your ERP with
zero human touch</a:t>
            </a:r>
          </a:p>
        </p:txBody>
      </p:sp>
      <p:sp>
        <p:nvSpPr>
          <p:cNvPr id="25" name="Rectangle 24"/>
          <p:cNvSpPr/>
          <p:nvPr/>
        </p:nvSpPr>
        <p:spPr>
          <a:xfrm>
            <a:off x="8174736" y="1828800"/>
            <a:ext cx="1828800" cy="425196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47888" y="1920240"/>
            <a:ext cx="1691640" cy="594360"/>
          </a:xfrm>
          <a:prstGeom prst="rect">
            <a:avLst/>
          </a:prstGeom>
          <a:noFill/>
        </p:spPr>
        <p:txBody>
          <a:bodyPr wrap="square">
            <a:spAutoFit/>
          </a:bodyPr>
          <a:lstStyle/>
          <a:p>
            <a:pPr algn="ctr"/>
            <a:r>
              <a:rPr sz="3200" b="1">
                <a:solidFill>
                  <a:srgbClr val="00C2FF"/>
                </a:solidFill>
                <a:latin typeface="Calibri"/>
              </a:rPr>
              <a:t>5</a:t>
            </a:r>
          </a:p>
        </p:txBody>
      </p:sp>
      <p:sp>
        <p:nvSpPr>
          <p:cNvPr id="27" name="TextBox 26"/>
          <p:cNvSpPr txBox="1"/>
          <p:nvPr/>
        </p:nvSpPr>
        <p:spPr>
          <a:xfrm>
            <a:off x="8247888" y="2450592"/>
            <a:ext cx="1691640" cy="502920"/>
          </a:xfrm>
          <a:prstGeom prst="rect">
            <a:avLst/>
          </a:prstGeom>
          <a:noFill/>
        </p:spPr>
        <p:txBody>
          <a:bodyPr wrap="square">
            <a:spAutoFit/>
          </a:bodyPr>
          <a:lstStyle/>
          <a:p>
            <a:pPr algn="ctr"/>
            <a:r>
              <a:rPr sz="1200" b="1">
                <a:solidFill>
                  <a:srgbClr val="FFFFFF"/>
                </a:solidFill>
                <a:latin typeface="Calibri"/>
              </a:rPr>
              <a:t>ESCALATE</a:t>
            </a:r>
          </a:p>
        </p:txBody>
      </p:sp>
      <p:sp>
        <p:nvSpPr>
          <p:cNvPr id="28" name="Rectangle 27"/>
          <p:cNvSpPr/>
          <p:nvPr/>
        </p:nvSpPr>
        <p:spPr>
          <a:xfrm>
            <a:off x="8357616" y="3044952"/>
            <a:ext cx="150876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0456" y="3145536"/>
            <a:ext cx="1755648" cy="1783080"/>
          </a:xfrm>
          <a:prstGeom prst="rect">
            <a:avLst/>
          </a:prstGeom>
          <a:noFill/>
        </p:spPr>
        <p:txBody>
          <a:bodyPr wrap="square">
            <a:spAutoFit/>
          </a:bodyPr>
          <a:lstStyle/>
          <a:p>
            <a:pPr algn="ctr"/>
            <a:r>
              <a:rPr sz="1200" b="0">
                <a:solidFill>
                  <a:srgbClr val="B0BEC5"/>
                </a:solidFill>
                <a:latin typeface="Calibri"/>
              </a:rPr>
              <a:t>Ambiguous items
trigger a one-click
approval prompt
to your team</a:t>
            </a:r>
          </a:p>
        </p:txBody>
      </p:sp>
      <p:sp>
        <p:nvSpPr>
          <p:cNvPr id="30" name="Rectangle 29"/>
          <p:cNvSpPr/>
          <p:nvPr/>
        </p:nvSpPr>
        <p:spPr>
          <a:xfrm>
            <a:off x="10149840" y="1828800"/>
            <a:ext cx="1828800" cy="425196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22992" y="1920240"/>
            <a:ext cx="1691640" cy="594360"/>
          </a:xfrm>
          <a:prstGeom prst="rect">
            <a:avLst/>
          </a:prstGeom>
          <a:noFill/>
        </p:spPr>
        <p:txBody>
          <a:bodyPr wrap="square">
            <a:spAutoFit/>
          </a:bodyPr>
          <a:lstStyle/>
          <a:p>
            <a:pPr algn="ctr"/>
            <a:r>
              <a:rPr sz="3200" b="1">
                <a:solidFill>
                  <a:srgbClr val="00C2FF"/>
                </a:solidFill>
                <a:latin typeface="Calibri"/>
              </a:rPr>
              <a:t>6</a:t>
            </a:r>
          </a:p>
        </p:txBody>
      </p:sp>
      <p:sp>
        <p:nvSpPr>
          <p:cNvPr id="32" name="TextBox 31"/>
          <p:cNvSpPr txBox="1"/>
          <p:nvPr/>
        </p:nvSpPr>
        <p:spPr>
          <a:xfrm>
            <a:off x="10222992" y="2450592"/>
            <a:ext cx="1691640" cy="502920"/>
          </a:xfrm>
          <a:prstGeom prst="rect">
            <a:avLst/>
          </a:prstGeom>
          <a:noFill/>
        </p:spPr>
        <p:txBody>
          <a:bodyPr wrap="square">
            <a:spAutoFit/>
          </a:bodyPr>
          <a:lstStyle/>
          <a:p>
            <a:pPr algn="ctr"/>
            <a:r>
              <a:rPr sz="1200" b="1">
                <a:solidFill>
                  <a:srgbClr val="FFFFFF"/>
                </a:solidFill>
                <a:latin typeface="Calibri"/>
              </a:rPr>
              <a:t>LOG</a:t>
            </a:r>
          </a:p>
        </p:txBody>
      </p:sp>
      <p:sp>
        <p:nvSpPr>
          <p:cNvPr id="33" name="Rectangle 32"/>
          <p:cNvSpPr/>
          <p:nvPr/>
        </p:nvSpPr>
        <p:spPr>
          <a:xfrm>
            <a:off x="10332720" y="3044952"/>
            <a:ext cx="150876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95560" y="3145536"/>
            <a:ext cx="1755648" cy="1783080"/>
          </a:xfrm>
          <a:prstGeom prst="rect">
            <a:avLst/>
          </a:prstGeom>
          <a:noFill/>
        </p:spPr>
        <p:txBody>
          <a:bodyPr wrap="square">
            <a:spAutoFit/>
          </a:bodyPr>
          <a:lstStyle/>
          <a:p>
            <a:pPr algn="ctr"/>
            <a:r>
              <a:rPr sz="1200" b="0">
                <a:solidFill>
                  <a:srgbClr val="B0BEC5"/>
                </a:solidFill>
                <a:latin typeface="Calibri"/>
              </a:rPr>
              <a:t>Every decision
logged for full
audit trail &amp;
reconciliation</a:t>
            </a:r>
          </a:p>
        </p:txBody>
      </p:sp>
      <p:sp>
        <p:nvSpPr>
          <p:cNvPr id="35" name="TextBox 34"/>
          <p:cNvSpPr txBox="1"/>
          <p:nvPr/>
        </p:nvSpPr>
        <p:spPr>
          <a:xfrm>
            <a:off x="2039112" y="3547872"/>
            <a:ext cx="201168" cy="365760"/>
          </a:xfrm>
          <a:prstGeom prst="rect">
            <a:avLst/>
          </a:prstGeom>
          <a:noFill/>
        </p:spPr>
        <p:txBody>
          <a:bodyPr wrap="square">
            <a:spAutoFit/>
          </a:bodyPr>
          <a:lstStyle/>
          <a:p>
            <a:pPr algn="ctr"/>
            <a:r>
              <a:rPr sz="1400" b="0">
                <a:solidFill>
                  <a:srgbClr val="00C2FF"/>
                </a:solidFill>
                <a:latin typeface="Calibri"/>
              </a:rPr>
              <a:t>▶</a:t>
            </a:r>
          </a:p>
        </p:txBody>
      </p:sp>
      <p:sp>
        <p:nvSpPr>
          <p:cNvPr id="36" name="TextBox 35"/>
          <p:cNvSpPr txBox="1"/>
          <p:nvPr/>
        </p:nvSpPr>
        <p:spPr>
          <a:xfrm>
            <a:off x="4014216" y="3547872"/>
            <a:ext cx="201168" cy="365760"/>
          </a:xfrm>
          <a:prstGeom prst="rect">
            <a:avLst/>
          </a:prstGeom>
          <a:noFill/>
        </p:spPr>
        <p:txBody>
          <a:bodyPr wrap="square">
            <a:spAutoFit/>
          </a:bodyPr>
          <a:lstStyle/>
          <a:p>
            <a:pPr algn="ctr"/>
            <a:r>
              <a:rPr sz="1400" b="0">
                <a:solidFill>
                  <a:srgbClr val="00C2FF"/>
                </a:solidFill>
                <a:latin typeface="Calibri"/>
              </a:rPr>
              <a:t>▶</a:t>
            </a:r>
          </a:p>
        </p:txBody>
      </p:sp>
      <p:sp>
        <p:nvSpPr>
          <p:cNvPr id="37" name="TextBox 36"/>
          <p:cNvSpPr txBox="1"/>
          <p:nvPr/>
        </p:nvSpPr>
        <p:spPr>
          <a:xfrm>
            <a:off x="5989320" y="3547872"/>
            <a:ext cx="201168" cy="365760"/>
          </a:xfrm>
          <a:prstGeom prst="rect">
            <a:avLst/>
          </a:prstGeom>
          <a:noFill/>
        </p:spPr>
        <p:txBody>
          <a:bodyPr wrap="square">
            <a:spAutoFit/>
          </a:bodyPr>
          <a:lstStyle/>
          <a:p>
            <a:pPr algn="ctr"/>
            <a:r>
              <a:rPr sz="1400" b="0">
                <a:solidFill>
                  <a:srgbClr val="00C2FF"/>
                </a:solidFill>
                <a:latin typeface="Calibri"/>
              </a:rPr>
              <a:t>▶</a:t>
            </a:r>
          </a:p>
        </p:txBody>
      </p:sp>
      <p:sp>
        <p:nvSpPr>
          <p:cNvPr id="38" name="TextBox 37"/>
          <p:cNvSpPr txBox="1"/>
          <p:nvPr/>
        </p:nvSpPr>
        <p:spPr>
          <a:xfrm>
            <a:off x="7964424" y="3547872"/>
            <a:ext cx="201168" cy="365760"/>
          </a:xfrm>
          <a:prstGeom prst="rect">
            <a:avLst/>
          </a:prstGeom>
          <a:noFill/>
        </p:spPr>
        <p:txBody>
          <a:bodyPr wrap="square">
            <a:spAutoFit/>
          </a:bodyPr>
          <a:lstStyle/>
          <a:p>
            <a:pPr algn="ctr"/>
            <a:r>
              <a:rPr sz="1400" b="0">
                <a:solidFill>
                  <a:srgbClr val="00C2FF"/>
                </a:solidFill>
                <a:latin typeface="Calibri"/>
              </a:rPr>
              <a:t>▶</a:t>
            </a:r>
          </a:p>
        </p:txBody>
      </p:sp>
      <p:sp>
        <p:nvSpPr>
          <p:cNvPr id="39" name="TextBox 38"/>
          <p:cNvSpPr txBox="1"/>
          <p:nvPr/>
        </p:nvSpPr>
        <p:spPr>
          <a:xfrm>
            <a:off x="9939528" y="3547872"/>
            <a:ext cx="201168" cy="365760"/>
          </a:xfrm>
          <a:prstGeom prst="rect">
            <a:avLst/>
          </a:prstGeom>
          <a:noFill/>
        </p:spPr>
        <p:txBody>
          <a:bodyPr wrap="square">
            <a:spAutoFit/>
          </a:bodyPr>
          <a:lstStyle/>
          <a:p>
            <a:pPr algn="ctr"/>
            <a:r>
              <a:rPr sz="1400" b="0">
                <a:solidFill>
                  <a:srgbClr val="00C2FF"/>
                </a:solidFill>
                <a:latin typeface="Calibri"/>
              </a:rPr>
              <a:t>▶</a:t>
            </a:r>
          </a:p>
        </p:txBody>
      </p:sp>
      <p:sp>
        <p:nvSpPr>
          <p:cNvPr id="40" name="TextBox 39"/>
          <p:cNvSpPr txBox="1"/>
          <p:nvPr/>
        </p:nvSpPr>
        <p:spPr>
          <a:xfrm>
            <a:off x="365760" y="6291072"/>
            <a:ext cx="11430000" cy="365760"/>
          </a:xfrm>
          <a:prstGeom prst="rect">
            <a:avLst/>
          </a:prstGeom>
          <a:noFill/>
        </p:spPr>
        <p:txBody>
          <a:bodyPr wrap="square">
            <a:spAutoFit/>
          </a:bodyPr>
          <a:lstStyle/>
          <a:p>
            <a:pPr algn="l"/>
            <a:r>
              <a:rPr sz="1100" b="0">
                <a:solidFill>
                  <a:srgbClr val="B0BEC5"/>
                </a:solidFill>
                <a:latin typeface="Calibri"/>
              </a:rPr>
              <a:t>Default rule: apply payment to oldest open invoice first.  All rules are configurable.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365760" y="274320"/>
            <a:ext cx="11430000" cy="548640"/>
          </a:xfrm>
          <a:prstGeom prst="rect">
            <a:avLst/>
          </a:prstGeom>
          <a:noFill/>
        </p:spPr>
        <p:txBody>
          <a:bodyPr wrap="square">
            <a:spAutoFit/>
          </a:bodyPr>
          <a:lstStyle/>
          <a:p>
            <a:pPr algn="l"/>
            <a:r>
              <a:rPr sz="1100" b="1">
                <a:solidFill>
                  <a:srgbClr val="00C2FF"/>
                </a:solidFill>
                <a:latin typeface="Calibri"/>
              </a:rPr>
              <a:t>HOW MATCHING WORKS</a:t>
            </a:r>
          </a:p>
        </p:txBody>
      </p:sp>
      <p:sp>
        <p:nvSpPr>
          <p:cNvPr id="3" name="TextBox 2"/>
          <p:cNvSpPr txBox="1"/>
          <p:nvPr/>
        </p:nvSpPr>
        <p:spPr>
          <a:xfrm>
            <a:off x="365760" y="685800"/>
            <a:ext cx="10972800" cy="777240"/>
          </a:xfrm>
          <a:prstGeom prst="rect">
            <a:avLst/>
          </a:prstGeom>
          <a:noFill/>
        </p:spPr>
        <p:txBody>
          <a:bodyPr wrap="square">
            <a:spAutoFit/>
          </a:bodyPr>
          <a:lstStyle/>
          <a:p>
            <a:pPr algn="l"/>
            <a:r>
              <a:rPr sz="2700" b="1">
                <a:solidFill>
                  <a:srgbClr val="FFFFFF"/>
                </a:solidFill>
                <a:latin typeface="Calibri"/>
              </a:rPr>
              <a:t>Intelligent Matching That Handles the Edge Cases Breaking Your Team Today</a:t>
            </a:r>
          </a:p>
        </p:txBody>
      </p:sp>
      <p:sp>
        <p:nvSpPr>
          <p:cNvPr id="4" name="Rectangle 3"/>
          <p:cNvSpPr/>
          <p:nvPr/>
        </p:nvSpPr>
        <p:spPr>
          <a:xfrm>
            <a:off x="365760" y="1627632"/>
            <a:ext cx="1143000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783080"/>
            <a:ext cx="5486400" cy="475488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920240"/>
            <a:ext cx="5120640" cy="457200"/>
          </a:xfrm>
          <a:prstGeom prst="rect">
            <a:avLst/>
          </a:prstGeom>
          <a:noFill/>
        </p:spPr>
        <p:txBody>
          <a:bodyPr wrap="square">
            <a:spAutoFit/>
          </a:bodyPr>
          <a:lstStyle/>
          <a:p>
            <a:pPr algn="l"/>
            <a:r>
              <a:rPr sz="1200" b="1">
                <a:solidFill>
                  <a:srgbClr val="00C2FF"/>
                </a:solidFill>
                <a:latin typeface="Calibri"/>
              </a:rPr>
              <a:t>SIGNALS THE ENGINE USES</a:t>
            </a:r>
          </a:p>
        </p:txBody>
      </p:sp>
      <p:sp>
        <p:nvSpPr>
          <p:cNvPr id="7" name="TextBox 6"/>
          <p:cNvSpPr txBox="1"/>
          <p:nvPr/>
        </p:nvSpPr>
        <p:spPr>
          <a:xfrm>
            <a:off x="502920" y="2487168"/>
            <a:ext cx="5120640" cy="457200"/>
          </a:xfrm>
          <a:prstGeom prst="rect">
            <a:avLst/>
          </a:prstGeom>
          <a:noFill/>
        </p:spPr>
        <p:txBody>
          <a:bodyPr wrap="square">
            <a:spAutoFit/>
          </a:bodyPr>
          <a:lstStyle/>
          <a:p>
            <a:pPr algn="l"/>
            <a:r>
              <a:rPr sz="1400" b="0">
                <a:solidFill>
                  <a:srgbClr val="FFFFFF"/>
                </a:solidFill>
                <a:latin typeface="Calibri"/>
              </a:rPr>
              <a:t>✓  Invoice or PO number extracted from remittance memo</a:t>
            </a:r>
          </a:p>
        </p:txBody>
      </p:sp>
      <p:sp>
        <p:nvSpPr>
          <p:cNvPr id="8" name="TextBox 7"/>
          <p:cNvSpPr txBox="1"/>
          <p:nvPr/>
        </p:nvSpPr>
        <p:spPr>
          <a:xfrm>
            <a:off x="502920" y="2990088"/>
            <a:ext cx="5120640" cy="457200"/>
          </a:xfrm>
          <a:prstGeom prst="rect">
            <a:avLst/>
          </a:prstGeom>
          <a:noFill/>
        </p:spPr>
        <p:txBody>
          <a:bodyPr wrap="square">
            <a:spAutoFit/>
          </a:bodyPr>
          <a:lstStyle/>
          <a:p>
            <a:pPr algn="l"/>
            <a:r>
              <a:rPr sz="1400" b="0">
                <a:solidFill>
                  <a:srgbClr val="FFFFFF"/>
                </a:solidFill>
                <a:latin typeface="Calibri"/>
              </a:rPr>
              <a:t>✓  Payment amount vs. invoice total (partial tolerance built in)</a:t>
            </a:r>
          </a:p>
        </p:txBody>
      </p:sp>
      <p:sp>
        <p:nvSpPr>
          <p:cNvPr id="9" name="TextBox 8"/>
          <p:cNvSpPr txBox="1"/>
          <p:nvPr/>
        </p:nvSpPr>
        <p:spPr>
          <a:xfrm>
            <a:off x="502920" y="3493008"/>
            <a:ext cx="5120640" cy="457200"/>
          </a:xfrm>
          <a:prstGeom prst="rect">
            <a:avLst/>
          </a:prstGeom>
          <a:noFill/>
        </p:spPr>
        <p:txBody>
          <a:bodyPr wrap="square">
            <a:spAutoFit/>
          </a:bodyPr>
          <a:lstStyle/>
          <a:p>
            <a:pPr algn="l"/>
            <a:r>
              <a:rPr sz="1400" b="0">
                <a:solidFill>
                  <a:srgbClr val="FFFFFF"/>
                </a:solidFill>
                <a:latin typeface="Calibri"/>
              </a:rPr>
              <a:t>✓  Payer name — fuzzy match handles abbreviations &amp; variations</a:t>
            </a:r>
          </a:p>
        </p:txBody>
      </p:sp>
      <p:sp>
        <p:nvSpPr>
          <p:cNvPr id="10" name="TextBox 9"/>
          <p:cNvSpPr txBox="1"/>
          <p:nvPr/>
        </p:nvSpPr>
        <p:spPr>
          <a:xfrm>
            <a:off x="502920" y="3995928"/>
            <a:ext cx="5120640" cy="457200"/>
          </a:xfrm>
          <a:prstGeom prst="rect">
            <a:avLst/>
          </a:prstGeom>
          <a:noFill/>
        </p:spPr>
        <p:txBody>
          <a:bodyPr wrap="square">
            <a:spAutoFit/>
          </a:bodyPr>
          <a:lstStyle/>
          <a:p>
            <a:pPr algn="l"/>
            <a:r>
              <a:rPr sz="1400" b="0">
                <a:solidFill>
                  <a:srgbClr val="FFFFFF"/>
                </a:solidFill>
                <a:latin typeface="Calibri"/>
              </a:rPr>
              <a:t>✓  Payment date relative to invoice due date</a:t>
            </a:r>
          </a:p>
        </p:txBody>
      </p:sp>
      <p:sp>
        <p:nvSpPr>
          <p:cNvPr id="11" name="TextBox 10"/>
          <p:cNvSpPr txBox="1"/>
          <p:nvPr/>
        </p:nvSpPr>
        <p:spPr>
          <a:xfrm>
            <a:off x="502920" y="4498848"/>
            <a:ext cx="5120640" cy="457200"/>
          </a:xfrm>
          <a:prstGeom prst="rect">
            <a:avLst/>
          </a:prstGeom>
          <a:noFill/>
        </p:spPr>
        <p:txBody>
          <a:bodyPr wrap="square">
            <a:spAutoFit/>
          </a:bodyPr>
          <a:lstStyle/>
          <a:p>
            <a:pPr algn="l"/>
            <a:r>
              <a:rPr sz="1400" b="0">
                <a:solidFill>
                  <a:srgbClr val="FFFFFF"/>
                </a:solidFill>
                <a:latin typeface="Calibri"/>
              </a:rPr>
              <a:t>✓  Job reference, contract number, or custom identifiers</a:t>
            </a:r>
          </a:p>
        </p:txBody>
      </p:sp>
      <p:sp>
        <p:nvSpPr>
          <p:cNvPr id="12" name="TextBox 11"/>
          <p:cNvSpPr txBox="1"/>
          <p:nvPr/>
        </p:nvSpPr>
        <p:spPr>
          <a:xfrm>
            <a:off x="502920" y="5001768"/>
            <a:ext cx="5120640" cy="457200"/>
          </a:xfrm>
          <a:prstGeom prst="rect">
            <a:avLst/>
          </a:prstGeom>
          <a:noFill/>
        </p:spPr>
        <p:txBody>
          <a:bodyPr wrap="square">
            <a:spAutoFit/>
          </a:bodyPr>
          <a:lstStyle/>
          <a:p>
            <a:pPr algn="l"/>
            <a:r>
              <a:rPr sz="1400" b="0">
                <a:solidFill>
                  <a:srgbClr val="FFFFFF"/>
                </a:solidFill>
                <a:latin typeface="Calibri"/>
              </a:rPr>
              <a:t>✓  Historical payment behavior learned per customer over time</a:t>
            </a:r>
          </a:p>
        </p:txBody>
      </p:sp>
      <p:sp>
        <p:nvSpPr>
          <p:cNvPr id="13" name="Rectangle 12"/>
          <p:cNvSpPr/>
          <p:nvPr/>
        </p:nvSpPr>
        <p:spPr>
          <a:xfrm>
            <a:off x="6035040" y="1783080"/>
            <a:ext cx="5806440" cy="475488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920240"/>
            <a:ext cx="5486400" cy="457200"/>
          </a:xfrm>
          <a:prstGeom prst="rect">
            <a:avLst/>
          </a:prstGeom>
          <a:noFill/>
        </p:spPr>
        <p:txBody>
          <a:bodyPr wrap="square">
            <a:spAutoFit/>
          </a:bodyPr>
          <a:lstStyle/>
          <a:p>
            <a:pPr algn="l"/>
            <a:r>
              <a:rPr sz="1200" b="1">
                <a:solidFill>
                  <a:srgbClr val="00C2FF"/>
                </a:solidFill>
                <a:latin typeface="Calibri"/>
              </a:rPr>
              <a:t>CONFIDENCE TIERS &amp; ACTIONS</a:t>
            </a:r>
          </a:p>
        </p:txBody>
      </p:sp>
      <p:sp>
        <p:nvSpPr>
          <p:cNvPr id="15" name="Oval 14"/>
          <p:cNvSpPr/>
          <p:nvPr/>
        </p:nvSpPr>
        <p:spPr>
          <a:xfrm>
            <a:off x="6217920" y="2587752"/>
            <a:ext cx="201168" cy="201168"/>
          </a:xfrm>
          <a:prstGeom prst="ellipse">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65392" y="2514600"/>
            <a:ext cx="5029200" cy="384048"/>
          </a:xfrm>
          <a:prstGeom prst="rect">
            <a:avLst/>
          </a:prstGeom>
          <a:noFill/>
        </p:spPr>
        <p:txBody>
          <a:bodyPr wrap="square">
            <a:spAutoFit/>
          </a:bodyPr>
          <a:lstStyle/>
          <a:p>
            <a:pPr algn="l"/>
            <a:r>
              <a:rPr sz="1400" b="1">
                <a:solidFill>
                  <a:srgbClr val="00E696"/>
                </a:solidFill>
                <a:latin typeface="Calibri"/>
              </a:rPr>
              <a:t>≥ 90% confidence</a:t>
            </a:r>
          </a:p>
        </p:txBody>
      </p:sp>
      <p:sp>
        <p:nvSpPr>
          <p:cNvPr id="17" name="TextBox 16"/>
          <p:cNvSpPr txBox="1"/>
          <p:nvPr/>
        </p:nvSpPr>
        <p:spPr>
          <a:xfrm>
            <a:off x="6565392" y="2907792"/>
            <a:ext cx="5029200" cy="384048"/>
          </a:xfrm>
          <a:prstGeom prst="rect">
            <a:avLst/>
          </a:prstGeom>
          <a:noFill/>
        </p:spPr>
        <p:txBody>
          <a:bodyPr wrap="square">
            <a:spAutoFit/>
          </a:bodyPr>
          <a:lstStyle/>
          <a:p>
            <a:pPr algn="l"/>
            <a:r>
              <a:rPr sz="1300" b="0">
                <a:solidFill>
                  <a:srgbClr val="B0BEC5"/>
                </a:solidFill>
                <a:latin typeface="Calibri"/>
              </a:rPr>
              <a:t>Post to ERP automatically — no human required</a:t>
            </a:r>
          </a:p>
        </p:txBody>
      </p:sp>
      <p:sp>
        <p:nvSpPr>
          <p:cNvPr id="18" name="Oval 17"/>
          <p:cNvSpPr/>
          <p:nvPr/>
        </p:nvSpPr>
        <p:spPr>
          <a:xfrm>
            <a:off x="6217920" y="3547872"/>
            <a:ext cx="201168" cy="201168"/>
          </a:xfrm>
          <a:prstGeom prst="ellipse">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474720"/>
            <a:ext cx="5029200" cy="384048"/>
          </a:xfrm>
          <a:prstGeom prst="rect">
            <a:avLst/>
          </a:prstGeom>
          <a:noFill/>
        </p:spPr>
        <p:txBody>
          <a:bodyPr wrap="square">
            <a:spAutoFit/>
          </a:bodyPr>
          <a:lstStyle/>
          <a:p>
            <a:pPr algn="l"/>
            <a:r>
              <a:rPr sz="1400" b="1">
                <a:solidFill>
                  <a:srgbClr val="00C2FF"/>
                </a:solidFill>
                <a:latin typeface="Calibri"/>
              </a:rPr>
              <a:t>70–89% confidence</a:t>
            </a:r>
          </a:p>
        </p:txBody>
      </p:sp>
      <p:sp>
        <p:nvSpPr>
          <p:cNvPr id="20" name="TextBox 19"/>
          <p:cNvSpPr txBox="1"/>
          <p:nvPr/>
        </p:nvSpPr>
        <p:spPr>
          <a:xfrm>
            <a:off x="6565392" y="3867911"/>
            <a:ext cx="5029200" cy="384048"/>
          </a:xfrm>
          <a:prstGeom prst="rect">
            <a:avLst/>
          </a:prstGeom>
          <a:noFill/>
        </p:spPr>
        <p:txBody>
          <a:bodyPr wrap="square">
            <a:spAutoFit/>
          </a:bodyPr>
          <a:lstStyle/>
          <a:p>
            <a:pPr algn="l"/>
            <a:r>
              <a:rPr sz="1300" b="0">
                <a:solidFill>
                  <a:srgbClr val="B0BEC5"/>
                </a:solidFill>
                <a:latin typeface="Calibri"/>
              </a:rPr>
              <a:t>Post and flag for next-day finance review</a:t>
            </a:r>
          </a:p>
        </p:txBody>
      </p:sp>
      <p:sp>
        <p:nvSpPr>
          <p:cNvPr id="21" name="Oval 20"/>
          <p:cNvSpPr/>
          <p:nvPr/>
        </p:nvSpPr>
        <p:spPr>
          <a:xfrm>
            <a:off x="6217920" y="4507992"/>
            <a:ext cx="201168" cy="201168"/>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4434840"/>
            <a:ext cx="5029200" cy="384048"/>
          </a:xfrm>
          <a:prstGeom prst="rect">
            <a:avLst/>
          </a:prstGeom>
          <a:noFill/>
        </p:spPr>
        <p:txBody>
          <a:bodyPr wrap="square">
            <a:spAutoFit/>
          </a:bodyPr>
          <a:lstStyle/>
          <a:p>
            <a:pPr algn="l"/>
            <a:r>
              <a:rPr sz="1400" b="1">
                <a:solidFill>
                  <a:srgbClr val="FF6B35"/>
                </a:solidFill>
                <a:latin typeface="Calibri"/>
              </a:rPr>
              <a:t>&lt; 70% confidence</a:t>
            </a:r>
          </a:p>
        </p:txBody>
      </p:sp>
      <p:sp>
        <p:nvSpPr>
          <p:cNvPr id="23" name="TextBox 22"/>
          <p:cNvSpPr txBox="1"/>
          <p:nvPr/>
        </p:nvSpPr>
        <p:spPr>
          <a:xfrm>
            <a:off x="6565392" y="4828031"/>
            <a:ext cx="5029200" cy="384048"/>
          </a:xfrm>
          <a:prstGeom prst="rect">
            <a:avLst/>
          </a:prstGeom>
          <a:noFill/>
        </p:spPr>
        <p:txBody>
          <a:bodyPr wrap="square">
            <a:spAutoFit/>
          </a:bodyPr>
          <a:lstStyle/>
          <a:p>
            <a:pPr algn="l"/>
            <a:r>
              <a:rPr sz="1300" b="0">
                <a:solidFill>
                  <a:srgbClr val="B0BEC5"/>
                </a:solidFill>
                <a:latin typeface="Calibri"/>
              </a:rPr>
              <a:t>Hold and send one-click approval to your team</a:t>
            </a:r>
          </a:p>
        </p:txBody>
      </p:sp>
      <p:sp>
        <p:nvSpPr>
          <p:cNvPr id="24" name="Oval 23"/>
          <p:cNvSpPr/>
          <p:nvPr/>
        </p:nvSpPr>
        <p:spPr>
          <a:xfrm>
            <a:off x="6217920" y="5468112"/>
            <a:ext cx="201168" cy="201168"/>
          </a:xfrm>
          <a:prstGeom prst="ellipse">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5394960"/>
            <a:ext cx="5029200" cy="384048"/>
          </a:xfrm>
          <a:prstGeom prst="rect">
            <a:avLst/>
          </a:prstGeom>
          <a:noFill/>
        </p:spPr>
        <p:txBody>
          <a:bodyPr wrap="square">
            <a:spAutoFit/>
          </a:bodyPr>
          <a:lstStyle/>
          <a:p>
            <a:pPr algn="l"/>
            <a:r>
              <a:rPr sz="1400" b="1">
                <a:solidFill>
                  <a:srgbClr val="CC2222"/>
                </a:solidFill>
                <a:latin typeface="Calibri"/>
              </a:rPr>
              <a:t>Unmatched</a:t>
            </a:r>
          </a:p>
        </p:txBody>
      </p:sp>
      <p:sp>
        <p:nvSpPr>
          <p:cNvPr id="26" name="TextBox 25"/>
          <p:cNvSpPr txBox="1"/>
          <p:nvPr/>
        </p:nvSpPr>
        <p:spPr>
          <a:xfrm>
            <a:off x="6565392" y="5788152"/>
            <a:ext cx="5029200" cy="384048"/>
          </a:xfrm>
          <a:prstGeom prst="rect">
            <a:avLst/>
          </a:prstGeom>
          <a:noFill/>
        </p:spPr>
        <p:txBody>
          <a:bodyPr wrap="square">
            <a:spAutoFit/>
          </a:bodyPr>
          <a:lstStyle/>
          <a:p>
            <a:pPr algn="l"/>
            <a:r>
              <a:rPr sz="1300" b="0">
                <a:solidFill>
                  <a:srgbClr val="B0BEC5"/>
                </a:solidFill>
                <a:latin typeface="Calibri"/>
              </a:rPr>
              <a:t>Dead-letter queue — alert sent immediately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365760" y="274320"/>
            <a:ext cx="11430000" cy="548640"/>
          </a:xfrm>
          <a:prstGeom prst="rect">
            <a:avLst/>
          </a:prstGeom>
          <a:noFill/>
        </p:spPr>
        <p:txBody>
          <a:bodyPr wrap="square">
            <a:spAutoFit/>
          </a:bodyPr>
          <a:lstStyle/>
          <a:p>
            <a:pPr algn="l"/>
            <a:r>
              <a:rPr sz="1100" b="1">
                <a:solidFill>
                  <a:srgbClr val="00C2FF"/>
                </a:solidFill>
                <a:latin typeface="Calibri"/>
              </a:rPr>
              <a:t>RETURN ON INVESTMENT</a:t>
            </a:r>
          </a:p>
        </p:txBody>
      </p:sp>
      <p:sp>
        <p:nvSpPr>
          <p:cNvPr id="3" name="TextBox 2"/>
          <p:cNvSpPr txBox="1"/>
          <p:nvPr/>
        </p:nvSpPr>
        <p:spPr>
          <a:xfrm>
            <a:off x="365760" y="685800"/>
            <a:ext cx="10972800" cy="777240"/>
          </a:xfrm>
          <a:prstGeom prst="rect">
            <a:avLst/>
          </a:prstGeom>
          <a:noFill/>
        </p:spPr>
        <p:txBody>
          <a:bodyPr wrap="square">
            <a:spAutoFit/>
          </a:bodyPr>
          <a:lstStyle/>
          <a:p>
            <a:pPr algn="l"/>
            <a:r>
              <a:rPr sz="2700" b="1">
                <a:solidFill>
                  <a:srgbClr val="FFFFFF"/>
                </a:solidFill>
                <a:latin typeface="Calibri"/>
              </a:rPr>
              <a:t>The Math Is Simple — And It Compounds Every Month</a:t>
            </a:r>
          </a:p>
        </p:txBody>
      </p:sp>
      <p:sp>
        <p:nvSpPr>
          <p:cNvPr id="4" name="Rectangle 3"/>
          <p:cNvSpPr/>
          <p:nvPr/>
        </p:nvSpPr>
        <p:spPr>
          <a:xfrm>
            <a:off x="365760" y="1627632"/>
            <a:ext cx="1143000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783080"/>
            <a:ext cx="5394960" cy="470916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901952"/>
            <a:ext cx="5029200" cy="457200"/>
          </a:xfrm>
          <a:prstGeom prst="rect">
            <a:avLst/>
          </a:prstGeom>
          <a:noFill/>
        </p:spPr>
        <p:txBody>
          <a:bodyPr wrap="square">
            <a:spAutoFit/>
          </a:bodyPr>
          <a:lstStyle/>
          <a:p>
            <a:pPr algn="l"/>
            <a:r>
              <a:rPr sz="1200" b="1">
                <a:solidFill>
                  <a:srgbClr val="00C2FF"/>
                </a:solidFill>
                <a:latin typeface="Calibri"/>
              </a:rPr>
              <a:t>TYPICAL COST INPUTS (annual)</a:t>
            </a:r>
          </a:p>
        </p:txBody>
      </p:sp>
      <p:sp>
        <p:nvSpPr>
          <p:cNvPr id="7" name="TextBox 6"/>
          <p:cNvSpPr txBox="1"/>
          <p:nvPr/>
        </p:nvSpPr>
        <p:spPr>
          <a:xfrm>
            <a:off x="502920" y="2487168"/>
            <a:ext cx="2926080" cy="347472"/>
          </a:xfrm>
          <a:prstGeom prst="rect">
            <a:avLst/>
          </a:prstGeom>
          <a:noFill/>
        </p:spPr>
        <p:txBody>
          <a:bodyPr wrap="square">
            <a:spAutoFit/>
          </a:bodyPr>
          <a:lstStyle/>
          <a:p>
            <a:pPr algn="l"/>
            <a:r>
              <a:rPr sz="1300" b="0">
                <a:solidFill>
                  <a:srgbClr val="FFFFFF"/>
                </a:solidFill>
                <a:latin typeface="Calibri"/>
              </a:rPr>
              <a:t>Staff time on cash application</a:t>
            </a:r>
          </a:p>
        </p:txBody>
      </p:sp>
      <p:sp>
        <p:nvSpPr>
          <p:cNvPr id="8" name="TextBox 7"/>
          <p:cNvSpPr txBox="1"/>
          <p:nvPr/>
        </p:nvSpPr>
        <p:spPr>
          <a:xfrm>
            <a:off x="502920" y="2834640"/>
            <a:ext cx="3200400" cy="320040"/>
          </a:xfrm>
          <a:prstGeom prst="rect">
            <a:avLst/>
          </a:prstGeom>
          <a:noFill/>
        </p:spPr>
        <p:txBody>
          <a:bodyPr wrap="square">
            <a:spAutoFit/>
          </a:bodyPr>
          <a:lstStyle/>
          <a:p>
            <a:pPr algn="l"/>
            <a:r>
              <a:rPr sz="1100" b="0">
                <a:solidFill>
                  <a:srgbClr val="B0BEC5"/>
                </a:solidFill>
                <a:latin typeface="Calibri"/>
              </a:rPr>
              <a:t>6 hrs/wk  ×  $40/hr  ×  50 wks</a:t>
            </a:r>
          </a:p>
        </p:txBody>
      </p:sp>
      <p:sp>
        <p:nvSpPr>
          <p:cNvPr id="9" name="TextBox 8"/>
          <p:cNvSpPr txBox="1"/>
          <p:nvPr/>
        </p:nvSpPr>
        <p:spPr>
          <a:xfrm>
            <a:off x="3931920" y="2532888"/>
            <a:ext cx="1554480" cy="411480"/>
          </a:xfrm>
          <a:prstGeom prst="rect">
            <a:avLst/>
          </a:prstGeom>
          <a:noFill/>
        </p:spPr>
        <p:txBody>
          <a:bodyPr wrap="square">
            <a:spAutoFit/>
          </a:bodyPr>
          <a:lstStyle/>
          <a:p>
            <a:pPr algn="r"/>
            <a:r>
              <a:rPr sz="1300" b="0">
                <a:solidFill>
                  <a:srgbClr val="FFFFFF"/>
                </a:solidFill>
                <a:latin typeface="Calibri"/>
              </a:rPr>
              <a:t>$12,000</a:t>
            </a:r>
          </a:p>
        </p:txBody>
      </p:sp>
      <p:sp>
        <p:nvSpPr>
          <p:cNvPr id="10" name="TextBox 9"/>
          <p:cNvSpPr txBox="1"/>
          <p:nvPr/>
        </p:nvSpPr>
        <p:spPr>
          <a:xfrm>
            <a:off x="502920" y="3236976"/>
            <a:ext cx="2926080" cy="347472"/>
          </a:xfrm>
          <a:prstGeom prst="rect">
            <a:avLst/>
          </a:prstGeom>
          <a:noFill/>
        </p:spPr>
        <p:txBody>
          <a:bodyPr wrap="square">
            <a:spAutoFit/>
          </a:bodyPr>
          <a:lstStyle/>
          <a:p>
            <a:pPr algn="l"/>
            <a:r>
              <a:rPr sz="1300" b="0">
                <a:solidFill>
                  <a:srgbClr val="FFFFFF"/>
                </a:solidFill>
                <a:latin typeface="Calibri"/>
              </a:rPr>
              <a:t>Error correction &amp; rework</a:t>
            </a:r>
          </a:p>
        </p:txBody>
      </p:sp>
      <p:sp>
        <p:nvSpPr>
          <p:cNvPr id="11" name="TextBox 10"/>
          <p:cNvSpPr txBox="1"/>
          <p:nvPr/>
        </p:nvSpPr>
        <p:spPr>
          <a:xfrm>
            <a:off x="502920" y="3584448"/>
            <a:ext cx="3200400" cy="320040"/>
          </a:xfrm>
          <a:prstGeom prst="rect">
            <a:avLst/>
          </a:prstGeom>
          <a:noFill/>
        </p:spPr>
        <p:txBody>
          <a:bodyPr wrap="square">
            <a:spAutoFit/>
          </a:bodyPr>
          <a:lstStyle/>
          <a:p>
            <a:pPr algn="l"/>
            <a:r>
              <a:rPr sz="1100" b="0">
                <a:solidFill>
                  <a:srgbClr val="B0BEC5"/>
                </a:solidFill>
                <a:latin typeface="Calibri"/>
              </a:rPr>
              <a:t>Avg 1.5 hrs/wk  ×  $40/hr</a:t>
            </a:r>
          </a:p>
        </p:txBody>
      </p:sp>
      <p:sp>
        <p:nvSpPr>
          <p:cNvPr id="12" name="TextBox 11"/>
          <p:cNvSpPr txBox="1"/>
          <p:nvPr/>
        </p:nvSpPr>
        <p:spPr>
          <a:xfrm>
            <a:off x="3931920" y="3282696"/>
            <a:ext cx="1554480" cy="411480"/>
          </a:xfrm>
          <a:prstGeom prst="rect">
            <a:avLst/>
          </a:prstGeom>
          <a:noFill/>
        </p:spPr>
        <p:txBody>
          <a:bodyPr wrap="square">
            <a:spAutoFit/>
          </a:bodyPr>
          <a:lstStyle/>
          <a:p>
            <a:pPr algn="r"/>
            <a:r>
              <a:rPr sz="1300" b="0">
                <a:solidFill>
                  <a:srgbClr val="FFFFFF"/>
                </a:solidFill>
                <a:latin typeface="Calibri"/>
              </a:rPr>
              <a:t>$3,000</a:t>
            </a:r>
          </a:p>
        </p:txBody>
      </p:sp>
      <p:sp>
        <p:nvSpPr>
          <p:cNvPr id="13" name="TextBox 12"/>
          <p:cNvSpPr txBox="1"/>
          <p:nvPr/>
        </p:nvSpPr>
        <p:spPr>
          <a:xfrm>
            <a:off x="502920" y="3986784"/>
            <a:ext cx="2926080" cy="347472"/>
          </a:xfrm>
          <a:prstGeom prst="rect">
            <a:avLst/>
          </a:prstGeom>
          <a:noFill/>
        </p:spPr>
        <p:txBody>
          <a:bodyPr wrap="square">
            <a:spAutoFit/>
          </a:bodyPr>
          <a:lstStyle/>
          <a:p>
            <a:pPr algn="l"/>
            <a:r>
              <a:rPr sz="1300" b="0">
                <a:solidFill>
                  <a:srgbClr val="FFFFFF"/>
                </a:solidFill>
                <a:latin typeface="Calibri"/>
              </a:rPr>
              <a:t>Late payment financing cost</a:t>
            </a:r>
          </a:p>
        </p:txBody>
      </p:sp>
      <p:sp>
        <p:nvSpPr>
          <p:cNvPr id="14" name="TextBox 13"/>
          <p:cNvSpPr txBox="1"/>
          <p:nvPr/>
        </p:nvSpPr>
        <p:spPr>
          <a:xfrm>
            <a:off x="502920" y="4334256"/>
            <a:ext cx="3200400" cy="320040"/>
          </a:xfrm>
          <a:prstGeom prst="rect">
            <a:avLst/>
          </a:prstGeom>
          <a:noFill/>
        </p:spPr>
        <p:txBody>
          <a:bodyPr wrap="square">
            <a:spAutoFit/>
          </a:bodyPr>
          <a:lstStyle/>
          <a:p>
            <a:pPr algn="l"/>
            <a:r>
              <a:rPr sz="1100" b="0">
                <a:solidFill>
                  <a:srgbClr val="B0BEC5"/>
                </a:solidFill>
                <a:latin typeface="Calibri"/>
              </a:rPr>
              <a:t>5-day lag  ×  $500K AR  ×  6% APR</a:t>
            </a:r>
          </a:p>
        </p:txBody>
      </p:sp>
      <p:sp>
        <p:nvSpPr>
          <p:cNvPr id="15" name="TextBox 14"/>
          <p:cNvSpPr txBox="1"/>
          <p:nvPr/>
        </p:nvSpPr>
        <p:spPr>
          <a:xfrm>
            <a:off x="3931920" y="4032504"/>
            <a:ext cx="1554480" cy="411480"/>
          </a:xfrm>
          <a:prstGeom prst="rect">
            <a:avLst/>
          </a:prstGeom>
          <a:noFill/>
        </p:spPr>
        <p:txBody>
          <a:bodyPr wrap="square">
            <a:spAutoFit/>
          </a:bodyPr>
          <a:lstStyle/>
          <a:p>
            <a:pPr algn="r"/>
            <a:r>
              <a:rPr sz="1300" b="0">
                <a:solidFill>
                  <a:srgbClr val="FFFFFF"/>
                </a:solidFill>
                <a:latin typeface="Calibri"/>
              </a:rPr>
              <a:t>$4,100</a:t>
            </a:r>
          </a:p>
        </p:txBody>
      </p:sp>
      <p:sp>
        <p:nvSpPr>
          <p:cNvPr id="16" name="TextBox 15"/>
          <p:cNvSpPr txBox="1"/>
          <p:nvPr/>
        </p:nvSpPr>
        <p:spPr>
          <a:xfrm>
            <a:off x="502920" y="4736592"/>
            <a:ext cx="2926080" cy="347472"/>
          </a:xfrm>
          <a:prstGeom prst="rect">
            <a:avLst/>
          </a:prstGeom>
          <a:noFill/>
        </p:spPr>
        <p:txBody>
          <a:bodyPr wrap="square">
            <a:spAutoFit/>
          </a:bodyPr>
          <a:lstStyle/>
          <a:p>
            <a:pPr algn="l"/>
            <a:r>
              <a:rPr sz="1300" b="0">
                <a:solidFill>
                  <a:srgbClr val="FFFFFF"/>
                </a:solidFill>
                <a:latin typeface="Calibri"/>
              </a:rPr>
              <a:t>Auditor / reconciliation time</a:t>
            </a:r>
          </a:p>
        </p:txBody>
      </p:sp>
      <p:sp>
        <p:nvSpPr>
          <p:cNvPr id="17" name="TextBox 16"/>
          <p:cNvSpPr txBox="1"/>
          <p:nvPr/>
        </p:nvSpPr>
        <p:spPr>
          <a:xfrm>
            <a:off x="502920" y="5084064"/>
            <a:ext cx="3200400" cy="320040"/>
          </a:xfrm>
          <a:prstGeom prst="rect">
            <a:avLst/>
          </a:prstGeom>
          <a:noFill/>
        </p:spPr>
        <p:txBody>
          <a:bodyPr wrap="square">
            <a:spAutoFit/>
          </a:bodyPr>
          <a:lstStyle/>
          <a:p>
            <a:pPr algn="l"/>
            <a:r>
              <a:rPr sz="1100" b="0">
                <a:solidFill>
                  <a:srgbClr val="B0BEC5"/>
                </a:solidFill>
                <a:latin typeface="Calibri"/>
              </a:rPr>
              <a:t>10 hrs/mo  ×  $75/hr</a:t>
            </a:r>
          </a:p>
        </p:txBody>
      </p:sp>
      <p:sp>
        <p:nvSpPr>
          <p:cNvPr id="18" name="TextBox 17"/>
          <p:cNvSpPr txBox="1"/>
          <p:nvPr/>
        </p:nvSpPr>
        <p:spPr>
          <a:xfrm>
            <a:off x="3931920" y="4782312"/>
            <a:ext cx="1554480" cy="411480"/>
          </a:xfrm>
          <a:prstGeom prst="rect">
            <a:avLst/>
          </a:prstGeom>
          <a:noFill/>
        </p:spPr>
        <p:txBody>
          <a:bodyPr wrap="square">
            <a:spAutoFit/>
          </a:bodyPr>
          <a:lstStyle/>
          <a:p>
            <a:pPr algn="r"/>
            <a:r>
              <a:rPr sz="1300" b="0">
                <a:solidFill>
                  <a:srgbClr val="FFFFFF"/>
                </a:solidFill>
                <a:latin typeface="Calibri"/>
              </a:rPr>
              <a:t>$9,000</a:t>
            </a:r>
          </a:p>
        </p:txBody>
      </p:sp>
      <p:sp>
        <p:nvSpPr>
          <p:cNvPr id="19" name="TextBox 18"/>
          <p:cNvSpPr txBox="1"/>
          <p:nvPr/>
        </p:nvSpPr>
        <p:spPr>
          <a:xfrm>
            <a:off x="502920" y="5486400"/>
            <a:ext cx="2926080" cy="347472"/>
          </a:xfrm>
          <a:prstGeom prst="rect">
            <a:avLst/>
          </a:prstGeom>
          <a:noFill/>
        </p:spPr>
        <p:txBody>
          <a:bodyPr wrap="square">
            <a:spAutoFit/>
          </a:bodyPr>
          <a:lstStyle/>
          <a:p>
            <a:pPr algn="l"/>
            <a:r>
              <a:rPr sz="1400" b="1">
                <a:solidFill>
                  <a:srgbClr val="00C2FF"/>
                </a:solidFill>
                <a:latin typeface="Calibri"/>
              </a:rPr>
              <a:t>TOTAL MANUAL COST</a:t>
            </a:r>
          </a:p>
        </p:txBody>
      </p:sp>
      <p:sp>
        <p:nvSpPr>
          <p:cNvPr id="20" name="TextBox 19"/>
          <p:cNvSpPr txBox="1"/>
          <p:nvPr/>
        </p:nvSpPr>
        <p:spPr>
          <a:xfrm>
            <a:off x="502920" y="5833872"/>
            <a:ext cx="3200400" cy="320040"/>
          </a:xfrm>
          <a:prstGeom prst="rect">
            <a:avLst/>
          </a:prstGeom>
          <a:noFill/>
        </p:spPr>
        <p:txBody>
          <a:bodyPr wrap="square">
            <a:spAutoFit/>
          </a:bodyPr>
          <a:lstStyle/>
          <a:p>
            <a:pPr algn="l"/>
            <a:r>
              <a:rPr sz="1100" b="0">
                <a:solidFill>
                  <a:srgbClr val="B0BEC5"/>
                </a:solidFill>
                <a:latin typeface="Calibri"/>
              </a:rPr>
              <a:t/>
            </a:r>
          </a:p>
        </p:txBody>
      </p:sp>
      <p:sp>
        <p:nvSpPr>
          <p:cNvPr id="21" name="TextBox 20"/>
          <p:cNvSpPr txBox="1"/>
          <p:nvPr/>
        </p:nvSpPr>
        <p:spPr>
          <a:xfrm>
            <a:off x="3931920" y="5532120"/>
            <a:ext cx="1554480" cy="411480"/>
          </a:xfrm>
          <a:prstGeom prst="rect">
            <a:avLst/>
          </a:prstGeom>
          <a:noFill/>
        </p:spPr>
        <p:txBody>
          <a:bodyPr wrap="square">
            <a:spAutoFit/>
          </a:bodyPr>
          <a:lstStyle/>
          <a:p>
            <a:pPr algn="r"/>
            <a:r>
              <a:rPr sz="1400" b="1">
                <a:solidFill>
                  <a:srgbClr val="00C2FF"/>
                </a:solidFill>
                <a:latin typeface="Calibri"/>
              </a:rPr>
              <a:t>$28,100+</a:t>
            </a:r>
          </a:p>
        </p:txBody>
      </p:sp>
      <p:sp>
        <p:nvSpPr>
          <p:cNvPr id="22" name="Rectangle 21"/>
          <p:cNvSpPr/>
          <p:nvPr/>
        </p:nvSpPr>
        <p:spPr>
          <a:xfrm>
            <a:off x="5989320" y="1783080"/>
            <a:ext cx="5852160" cy="470916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1901952"/>
            <a:ext cx="5486400" cy="457200"/>
          </a:xfrm>
          <a:prstGeom prst="rect">
            <a:avLst/>
          </a:prstGeom>
          <a:noFill/>
        </p:spPr>
        <p:txBody>
          <a:bodyPr wrap="square">
            <a:spAutoFit/>
          </a:bodyPr>
          <a:lstStyle/>
          <a:p>
            <a:pPr algn="l"/>
            <a:r>
              <a:rPr sz="1200" b="1">
                <a:solidFill>
                  <a:srgbClr val="00C2FF"/>
                </a:solidFill>
                <a:latin typeface="Calibri"/>
              </a:rPr>
              <a:t>LUNARLOGIC OUTCOME</a:t>
            </a:r>
          </a:p>
        </p:txBody>
      </p:sp>
      <p:sp>
        <p:nvSpPr>
          <p:cNvPr id="24" name="Rectangle 23"/>
          <p:cNvSpPr/>
          <p:nvPr/>
        </p:nvSpPr>
        <p:spPr>
          <a:xfrm>
            <a:off x="6172200" y="2487168"/>
            <a:ext cx="5486400" cy="731520"/>
          </a:xfrm>
          <a:prstGeom prst="rect">
            <a:avLst/>
          </a:prstGeom>
          <a:solidFill>
            <a:srgbClr val="082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2560320"/>
            <a:ext cx="1645920" cy="566928"/>
          </a:xfrm>
          <a:prstGeom prst="rect">
            <a:avLst/>
          </a:prstGeom>
          <a:noFill/>
        </p:spPr>
        <p:txBody>
          <a:bodyPr wrap="square">
            <a:spAutoFit/>
          </a:bodyPr>
          <a:lstStyle/>
          <a:p>
            <a:pPr algn="l"/>
            <a:r>
              <a:rPr sz="2400" b="1">
                <a:solidFill>
                  <a:srgbClr val="00E696"/>
                </a:solidFill>
                <a:latin typeface="Calibri"/>
              </a:rPr>
              <a:t>~$25K</a:t>
            </a:r>
          </a:p>
        </p:txBody>
      </p:sp>
      <p:sp>
        <p:nvSpPr>
          <p:cNvPr id="26" name="TextBox 25"/>
          <p:cNvSpPr txBox="1"/>
          <p:nvPr/>
        </p:nvSpPr>
        <p:spPr>
          <a:xfrm>
            <a:off x="7955279" y="2670048"/>
            <a:ext cx="3474720" cy="411480"/>
          </a:xfrm>
          <a:prstGeom prst="rect">
            <a:avLst/>
          </a:prstGeom>
          <a:noFill/>
        </p:spPr>
        <p:txBody>
          <a:bodyPr wrap="square">
            <a:spAutoFit/>
          </a:bodyPr>
          <a:lstStyle/>
          <a:p>
            <a:pPr algn="l"/>
            <a:r>
              <a:rPr sz="1300" b="0">
                <a:solidFill>
                  <a:srgbClr val="FFFFFF"/>
                </a:solidFill>
                <a:latin typeface="Calibri"/>
              </a:rPr>
              <a:t>annual staff time recaptured</a:t>
            </a:r>
          </a:p>
        </p:txBody>
      </p:sp>
      <p:sp>
        <p:nvSpPr>
          <p:cNvPr id="27" name="Rectangle 26"/>
          <p:cNvSpPr/>
          <p:nvPr/>
        </p:nvSpPr>
        <p:spPr>
          <a:xfrm>
            <a:off x="6172200" y="3355848"/>
            <a:ext cx="5486400" cy="731520"/>
          </a:xfrm>
          <a:prstGeom prst="rect">
            <a:avLst/>
          </a:prstGeom>
          <a:solidFill>
            <a:srgbClr val="082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80" y="3429000"/>
            <a:ext cx="1645920" cy="566928"/>
          </a:xfrm>
          <a:prstGeom prst="rect">
            <a:avLst/>
          </a:prstGeom>
          <a:noFill/>
        </p:spPr>
        <p:txBody>
          <a:bodyPr wrap="square">
            <a:spAutoFit/>
          </a:bodyPr>
          <a:lstStyle/>
          <a:p>
            <a:pPr algn="l"/>
            <a:r>
              <a:rPr sz="2400" b="1">
                <a:solidFill>
                  <a:srgbClr val="00E696"/>
                </a:solidFill>
                <a:latin typeface="Calibri"/>
              </a:rPr>
              <a:t>19 days</a:t>
            </a:r>
          </a:p>
        </p:txBody>
      </p:sp>
      <p:sp>
        <p:nvSpPr>
          <p:cNvPr id="29" name="TextBox 28"/>
          <p:cNvSpPr txBox="1"/>
          <p:nvPr/>
        </p:nvSpPr>
        <p:spPr>
          <a:xfrm>
            <a:off x="7955279" y="3538728"/>
            <a:ext cx="3474720" cy="411480"/>
          </a:xfrm>
          <a:prstGeom prst="rect">
            <a:avLst/>
          </a:prstGeom>
          <a:noFill/>
        </p:spPr>
        <p:txBody>
          <a:bodyPr wrap="square">
            <a:spAutoFit/>
          </a:bodyPr>
          <a:lstStyle/>
          <a:p>
            <a:pPr algn="l"/>
            <a:r>
              <a:rPr sz="1300" b="0">
                <a:solidFill>
                  <a:srgbClr val="FFFFFF"/>
                </a:solidFill>
                <a:latin typeface="Calibri"/>
              </a:rPr>
              <a:t>average DSO improvement</a:t>
            </a:r>
          </a:p>
        </p:txBody>
      </p:sp>
      <p:sp>
        <p:nvSpPr>
          <p:cNvPr id="30" name="Rectangle 29"/>
          <p:cNvSpPr/>
          <p:nvPr/>
        </p:nvSpPr>
        <p:spPr>
          <a:xfrm>
            <a:off x="6172200" y="4224528"/>
            <a:ext cx="5486400" cy="731520"/>
          </a:xfrm>
          <a:prstGeom prst="rect">
            <a:avLst/>
          </a:prstGeom>
          <a:solidFill>
            <a:srgbClr val="082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4297680"/>
            <a:ext cx="1645920" cy="566928"/>
          </a:xfrm>
          <a:prstGeom prst="rect">
            <a:avLst/>
          </a:prstGeom>
          <a:noFill/>
        </p:spPr>
        <p:txBody>
          <a:bodyPr wrap="square">
            <a:spAutoFit/>
          </a:bodyPr>
          <a:lstStyle/>
          <a:p>
            <a:pPr algn="l"/>
            <a:r>
              <a:rPr sz="2400" b="1">
                <a:solidFill>
                  <a:srgbClr val="00E696"/>
                </a:solidFill>
                <a:latin typeface="Calibri"/>
              </a:rPr>
              <a:t>80%+</a:t>
            </a:r>
          </a:p>
        </p:txBody>
      </p:sp>
      <p:sp>
        <p:nvSpPr>
          <p:cNvPr id="32" name="TextBox 31"/>
          <p:cNvSpPr txBox="1"/>
          <p:nvPr/>
        </p:nvSpPr>
        <p:spPr>
          <a:xfrm>
            <a:off x="7955279" y="4407408"/>
            <a:ext cx="3474720" cy="411480"/>
          </a:xfrm>
          <a:prstGeom prst="rect">
            <a:avLst/>
          </a:prstGeom>
          <a:noFill/>
        </p:spPr>
        <p:txBody>
          <a:bodyPr wrap="square">
            <a:spAutoFit/>
          </a:bodyPr>
          <a:lstStyle/>
          <a:p>
            <a:pPr algn="l"/>
            <a:r>
              <a:rPr sz="1300" b="0">
                <a:solidFill>
                  <a:srgbClr val="FFFFFF"/>
                </a:solidFill>
                <a:latin typeface="Calibri"/>
              </a:rPr>
              <a:t>reduction in match exceptions</a:t>
            </a:r>
          </a:p>
        </p:txBody>
      </p:sp>
      <p:sp>
        <p:nvSpPr>
          <p:cNvPr id="33" name="Rectangle 32"/>
          <p:cNvSpPr/>
          <p:nvPr/>
        </p:nvSpPr>
        <p:spPr>
          <a:xfrm>
            <a:off x="6172200" y="5093208"/>
            <a:ext cx="5486400" cy="731520"/>
          </a:xfrm>
          <a:prstGeom prst="rect">
            <a:avLst/>
          </a:prstGeom>
          <a:solidFill>
            <a:srgbClr val="082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5166360"/>
            <a:ext cx="1645920" cy="566928"/>
          </a:xfrm>
          <a:prstGeom prst="rect">
            <a:avLst/>
          </a:prstGeom>
          <a:noFill/>
        </p:spPr>
        <p:txBody>
          <a:bodyPr wrap="square">
            <a:spAutoFit/>
          </a:bodyPr>
          <a:lstStyle/>
          <a:p>
            <a:pPr algn="l"/>
            <a:r>
              <a:rPr sz="2400" b="1">
                <a:solidFill>
                  <a:srgbClr val="00E696"/>
                </a:solidFill>
                <a:latin typeface="Calibri"/>
              </a:rPr>
              <a:t>&lt; 24 hrs</a:t>
            </a:r>
          </a:p>
        </p:txBody>
      </p:sp>
      <p:sp>
        <p:nvSpPr>
          <p:cNvPr id="35" name="TextBox 34"/>
          <p:cNvSpPr txBox="1"/>
          <p:nvPr/>
        </p:nvSpPr>
        <p:spPr>
          <a:xfrm>
            <a:off x="7955279" y="5276088"/>
            <a:ext cx="3474720" cy="411480"/>
          </a:xfrm>
          <a:prstGeom prst="rect">
            <a:avLst/>
          </a:prstGeom>
          <a:noFill/>
        </p:spPr>
        <p:txBody>
          <a:bodyPr wrap="square">
            <a:spAutoFit/>
          </a:bodyPr>
          <a:lstStyle/>
          <a:p>
            <a:pPr algn="l"/>
            <a:r>
              <a:rPr sz="1300" b="0">
                <a:solidFill>
                  <a:srgbClr val="FFFFFF"/>
                </a:solidFill>
                <a:latin typeface="Calibri"/>
              </a:rPr>
              <a:t>average payment-to-close cycle</a:t>
            </a:r>
          </a:p>
        </p:txBody>
      </p:sp>
      <p:sp>
        <p:nvSpPr>
          <p:cNvPr id="36" name="Rectangle 35"/>
          <p:cNvSpPr/>
          <p:nvPr/>
        </p:nvSpPr>
        <p:spPr>
          <a:xfrm>
            <a:off x="6172200" y="5486400"/>
            <a:ext cx="5486400" cy="96012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5056632"/>
            <a:ext cx="5212080" cy="804672"/>
          </a:xfrm>
          <a:prstGeom prst="rect">
            <a:avLst/>
          </a:prstGeom>
          <a:noFill/>
        </p:spPr>
        <p:txBody>
          <a:bodyPr wrap="square">
            <a:spAutoFit/>
          </a:bodyPr>
          <a:lstStyle/>
          <a:p>
            <a:pPr algn="l"/>
            <a:r>
              <a:rPr sz="1300" b="0">
                <a:solidFill>
                  <a:srgbClr val="FFFFFF"/>
                </a:solidFill>
                <a:latin typeface="Calibri"/>
              </a:rPr>
              <a:t>At $1,497/mo (Professional), annual investment = $17,964
Typical client ROI:  56% in year one — before DSO gains.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365760" y="274320"/>
            <a:ext cx="11430000" cy="548640"/>
          </a:xfrm>
          <a:prstGeom prst="rect">
            <a:avLst/>
          </a:prstGeom>
          <a:noFill/>
        </p:spPr>
        <p:txBody>
          <a:bodyPr wrap="square">
            <a:spAutoFit/>
          </a:bodyPr>
          <a:lstStyle/>
          <a:p>
            <a:pPr algn="l"/>
            <a:r>
              <a:rPr sz="1100" b="1">
                <a:solidFill>
                  <a:srgbClr val="00C2FF"/>
                </a:solidFill>
                <a:latin typeface="Calibri"/>
              </a:rPr>
              <a:t>CLIENT PROOF POINT</a:t>
            </a:r>
          </a:p>
        </p:txBody>
      </p:sp>
      <p:sp>
        <p:nvSpPr>
          <p:cNvPr id="3" name="TextBox 2"/>
          <p:cNvSpPr txBox="1"/>
          <p:nvPr/>
        </p:nvSpPr>
        <p:spPr>
          <a:xfrm>
            <a:off x="365760" y="685800"/>
            <a:ext cx="10972800" cy="777240"/>
          </a:xfrm>
          <a:prstGeom prst="rect">
            <a:avLst/>
          </a:prstGeom>
          <a:noFill/>
        </p:spPr>
        <p:txBody>
          <a:bodyPr wrap="square">
            <a:spAutoFit/>
          </a:bodyPr>
          <a:lstStyle/>
          <a:p>
            <a:pPr algn="l"/>
            <a:r>
              <a:rPr sz="2700" b="1">
                <a:solidFill>
                  <a:srgbClr val="FFFFFF"/>
                </a:solidFill>
                <a:latin typeface="Calibri"/>
              </a:rPr>
              <a:t>What Changes When Cash Application Runs on Autopilot</a:t>
            </a:r>
          </a:p>
        </p:txBody>
      </p:sp>
      <p:sp>
        <p:nvSpPr>
          <p:cNvPr id="4" name="Rectangle 3"/>
          <p:cNvSpPr/>
          <p:nvPr/>
        </p:nvSpPr>
        <p:spPr>
          <a:xfrm>
            <a:off x="365760" y="1627632"/>
            <a:ext cx="1143000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783080"/>
            <a:ext cx="11521440" cy="1965960"/>
          </a:xfrm>
          <a:prstGeom prst="rect">
            <a:avLst/>
          </a:prstGeom>
          <a:solidFill>
            <a:srgbClr val="08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74519"/>
            <a:ext cx="10972800" cy="411480"/>
          </a:xfrm>
          <a:prstGeom prst="rect">
            <a:avLst/>
          </a:prstGeom>
          <a:noFill/>
        </p:spPr>
        <p:txBody>
          <a:bodyPr wrap="square">
            <a:spAutoFit/>
          </a:bodyPr>
          <a:lstStyle/>
          <a:p>
            <a:pPr algn="l"/>
            <a:r>
              <a:rPr sz="1100" b="1">
                <a:solidFill>
                  <a:srgbClr val="00C2FF"/>
                </a:solidFill>
                <a:latin typeface="Calibri"/>
              </a:rPr>
              <a:t>KAPTAIN CLEAN LLC  ·  Commercial Services  ·  LunarLogic Client Since 2025</a:t>
            </a:r>
          </a:p>
        </p:txBody>
      </p:sp>
      <p:sp>
        <p:nvSpPr>
          <p:cNvPr id="7" name="TextBox 6"/>
          <p:cNvSpPr txBox="1"/>
          <p:nvPr/>
        </p:nvSpPr>
        <p:spPr>
          <a:xfrm>
            <a:off x="502920" y="2267712"/>
            <a:ext cx="11064240" cy="1234440"/>
          </a:xfrm>
          <a:prstGeom prst="rect">
            <a:avLst/>
          </a:prstGeom>
          <a:noFill/>
        </p:spPr>
        <p:txBody>
          <a:bodyPr wrap="square">
            <a:spAutoFit/>
          </a:bodyPr>
          <a:lstStyle/>
          <a:p>
            <a:pPr algn="l"/>
            <a:r>
              <a:rPr sz="1400" b="0">
                <a:solidFill>
                  <a:srgbClr val="FFFFFF"/>
                </a:solidFill>
                <a:latin typeface="Calibri"/>
              </a:rPr>
              <a:t>"Before LunarLogic, our finance team spent half a day every week tracking down which payments
applied to which invoice. Now it just happens. Our books close faster and we stopped carrying
receivables we didn't even know were already paid."</a:t>
            </a:r>
          </a:p>
        </p:txBody>
      </p:sp>
      <p:sp>
        <p:nvSpPr>
          <p:cNvPr id="8" name="Rectangle 7"/>
          <p:cNvSpPr/>
          <p:nvPr/>
        </p:nvSpPr>
        <p:spPr>
          <a:xfrm>
            <a:off x="320040" y="3977639"/>
            <a:ext cx="2743200" cy="25603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4160520"/>
            <a:ext cx="2560320" cy="914400"/>
          </a:xfrm>
          <a:prstGeom prst="rect">
            <a:avLst/>
          </a:prstGeom>
          <a:noFill/>
        </p:spPr>
        <p:txBody>
          <a:bodyPr wrap="square">
            <a:spAutoFit/>
          </a:bodyPr>
          <a:lstStyle/>
          <a:p>
            <a:pPr algn="ctr"/>
            <a:r>
              <a:rPr sz="4000" b="1">
                <a:solidFill>
                  <a:srgbClr val="00E696"/>
                </a:solidFill>
                <a:latin typeface="Calibri"/>
              </a:rPr>
              <a:t>84%</a:t>
            </a:r>
          </a:p>
        </p:txBody>
      </p:sp>
      <p:sp>
        <p:nvSpPr>
          <p:cNvPr id="10" name="TextBox 9"/>
          <p:cNvSpPr txBox="1"/>
          <p:nvPr/>
        </p:nvSpPr>
        <p:spPr>
          <a:xfrm>
            <a:off x="411479" y="4956048"/>
            <a:ext cx="2560320" cy="777240"/>
          </a:xfrm>
          <a:prstGeom prst="rect">
            <a:avLst/>
          </a:prstGeom>
          <a:noFill/>
        </p:spPr>
        <p:txBody>
          <a:bodyPr wrap="square">
            <a:spAutoFit/>
          </a:bodyPr>
          <a:lstStyle/>
          <a:p>
            <a:pPr algn="ctr"/>
            <a:r>
              <a:rPr sz="1400" b="0">
                <a:solidFill>
                  <a:srgbClr val="FFFFFF"/>
                </a:solidFill>
                <a:latin typeface="Calibri"/>
              </a:rPr>
              <a:t>reduction in
invoice processing time</a:t>
            </a:r>
          </a:p>
        </p:txBody>
      </p:sp>
      <p:sp>
        <p:nvSpPr>
          <p:cNvPr id="11" name="Rectangle 10"/>
          <p:cNvSpPr/>
          <p:nvPr/>
        </p:nvSpPr>
        <p:spPr>
          <a:xfrm>
            <a:off x="3227832" y="3977639"/>
            <a:ext cx="2743200" cy="25603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9272" y="4160520"/>
            <a:ext cx="2560320" cy="914400"/>
          </a:xfrm>
          <a:prstGeom prst="rect">
            <a:avLst/>
          </a:prstGeom>
          <a:noFill/>
        </p:spPr>
        <p:txBody>
          <a:bodyPr wrap="square">
            <a:spAutoFit/>
          </a:bodyPr>
          <a:lstStyle/>
          <a:p>
            <a:pPr algn="ctr"/>
            <a:r>
              <a:rPr sz="4000" b="1">
                <a:solidFill>
                  <a:srgbClr val="00E696"/>
                </a:solidFill>
                <a:latin typeface="Calibri"/>
              </a:rPr>
              <a:t>19 Days</a:t>
            </a:r>
          </a:p>
        </p:txBody>
      </p:sp>
      <p:sp>
        <p:nvSpPr>
          <p:cNvPr id="13" name="TextBox 12"/>
          <p:cNvSpPr txBox="1"/>
          <p:nvPr/>
        </p:nvSpPr>
        <p:spPr>
          <a:xfrm>
            <a:off x="3319272" y="4956048"/>
            <a:ext cx="2560320" cy="777240"/>
          </a:xfrm>
          <a:prstGeom prst="rect">
            <a:avLst/>
          </a:prstGeom>
          <a:noFill/>
        </p:spPr>
        <p:txBody>
          <a:bodyPr wrap="square">
            <a:spAutoFit/>
          </a:bodyPr>
          <a:lstStyle/>
          <a:p>
            <a:pPr algn="ctr"/>
            <a:r>
              <a:rPr sz="1400" b="0">
                <a:solidFill>
                  <a:srgbClr val="FFFFFF"/>
                </a:solidFill>
                <a:latin typeface="Calibri"/>
              </a:rPr>
              <a:t>DSO improvement
post go-live</a:t>
            </a:r>
          </a:p>
        </p:txBody>
      </p:sp>
      <p:sp>
        <p:nvSpPr>
          <p:cNvPr id="14" name="Rectangle 13"/>
          <p:cNvSpPr/>
          <p:nvPr/>
        </p:nvSpPr>
        <p:spPr>
          <a:xfrm>
            <a:off x="6135624" y="3977639"/>
            <a:ext cx="2743200" cy="25603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7064" y="4160520"/>
            <a:ext cx="2560320" cy="914400"/>
          </a:xfrm>
          <a:prstGeom prst="rect">
            <a:avLst/>
          </a:prstGeom>
          <a:noFill/>
        </p:spPr>
        <p:txBody>
          <a:bodyPr wrap="square">
            <a:spAutoFit/>
          </a:bodyPr>
          <a:lstStyle/>
          <a:p>
            <a:pPr algn="ctr"/>
            <a:r>
              <a:rPr sz="4000" b="1">
                <a:solidFill>
                  <a:srgbClr val="00E696"/>
                </a:solidFill>
                <a:latin typeface="Calibri"/>
              </a:rPr>
              <a:t>&lt; 2 Weeks</a:t>
            </a:r>
          </a:p>
        </p:txBody>
      </p:sp>
      <p:sp>
        <p:nvSpPr>
          <p:cNvPr id="16" name="TextBox 15"/>
          <p:cNvSpPr txBox="1"/>
          <p:nvPr/>
        </p:nvSpPr>
        <p:spPr>
          <a:xfrm>
            <a:off x="6227064" y="4956048"/>
            <a:ext cx="2560320" cy="777240"/>
          </a:xfrm>
          <a:prstGeom prst="rect">
            <a:avLst/>
          </a:prstGeom>
          <a:noFill/>
        </p:spPr>
        <p:txBody>
          <a:bodyPr wrap="square">
            <a:spAutoFit/>
          </a:bodyPr>
          <a:lstStyle/>
          <a:p>
            <a:pPr algn="ctr"/>
            <a:r>
              <a:rPr sz="1400" b="0">
                <a:solidFill>
                  <a:srgbClr val="FFFFFF"/>
                </a:solidFill>
                <a:latin typeface="Calibri"/>
              </a:rPr>
              <a:t>from contract
to production</a:t>
            </a:r>
          </a:p>
        </p:txBody>
      </p:sp>
      <p:sp>
        <p:nvSpPr>
          <p:cNvPr id="17" name="Rectangle 16"/>
          <p:cNvSpPr/>
          <p:nvPr/>
        </p:nvSpPr>
        <p:spPr>
          <a:xfrm>
            <a:off x="9043416" y="3977639"/>
            <a:ext cx="2743200" cy="25603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34856" y="4160520"/>
            <a:ext cx="2560320" cy="914400"/>
          </a:xfrm>
          <a:prstGeom prst="rect">
            <a:avLst/>
          </a:prstGeom>
          <a:noFill/>
        </p:spPr>
        <p:txBody>
          <a:bodyPr wrap="square">
            <a:spAutoFit/>
          </a:bodyPr>
          <a:lstStyle/>
          <a:p>
            <a:pPr algn="ctr"/>
            <a:r>
              <a:rPr sz="4000" b="1">
                <a:solidFill>
                  <a:srgbClr val="00E696"/>
                </a:solidFill>
                <a:latin typeface="Calibri"/>
              </a:rPr>
              <a:t>0 hrs/wk</a:t>
            </a:r>
          </a:p>
        </p:txBody>
      </p:sp>
      <p:sp>
        <p:nvSpPr>
          <p:cNvPr id="19" name="TextBox 18"/>
          <p:cNvSpPr txBox="1"/>
          <p:nvPr/>
        </p:nvSpPr>
        <p:spPr>
          <a:xfrm>
            <a:off x="9134856" y="4956048"/>
            <a:ext cx="2560320" cy="777240"/>
          </a:xfrm>
          <a:prstGeom prst="rect">
            <a:avLst/>
          </a:prstGeom>
          <a:noFill/>
        </p:spPr>
        <p:txBody>
          <a:bodyPr wrap="square">
            <a:spAutoFit/>
          </a:bodyPr>
          <a:lstStyle/>
          <a:p>
            <a:pPr algn="ctr"/>
            <a:r>
              <a:rPr sz="1400" b="0">
                <a:solidFill>
                  <a:srgbClr val="FFFFFF"/>
                </a:solidFill>
                <a:latin typeface="Calibri"/>
              </a:rPr>
              <a:t>manual cash
application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365760" y="274320"/>
            <a:ext cx="11430000" cy="548640"/>
          </a:xfrm>
          <a:prstGeom prst="rect">
            <a:avLst/>
          </a:prstGeom>
          <a:noFill/>
        </p:spPr>
        <p:txBody>
          <a:bodyPr wrap="square">
            <a:spAutoFit/>
          </a:bodyPr>
          <a:lstStyle/>
          <a:p>
            <a:pPr algn="l"/>
            <a:r>
              <a:rPr sz="1100" b="1">
                <a:solidFill>
                  <a:srgbClr val="00C2FF"/>
                </a:solidFill>
                <a:latin typeface="Calibri"/>
              </a:rPr>
              <a:t>WHAT YOU GET</a:t>
            </a:r>
          </a:p>
        </p:txBody>
      </p:sp>
      <p:sp>
        <p:nvSpPr>
          <p:cNvPr id="3" name="TextBox 2"/>
          <p:cNvSpPr txBox="1"/>
          <p:nvPr/>
        </p:nvSpPr>
        <p:spPr>
          <a:xfrm>
            <a:off x="365760" y="685800"/>
            <a:ext cx="10972800" cy="777240"/>
          </a:xfrm>
          <a:prstGeom prst="rect">
            <a:avLst/>
          </a:prstGeom>
          <a:noFill/>
        </p:spPr>
        <p:txBody>
          <a:bodyPr wrap="square">
            <a:spAutoFit/>
          </a:bodyPr>
          <a:lstStyle/>
          <a:p>
            <a:pPr algn="l"/>
            <a:r>
              <a:rPr sz="2700" b="1">
                <a:solidFill>
                  <a:srgbClr val="FFFFFF"/>
                </a:solidFill>
                <a:latin typeface="Calibri"/>
              </a:rPr>
              <a:t>A Complete Solution — No Bolt-Ons, No Hidden Fees</a:t>
            </a:r>
          </a:p>
        </p:txBody>
      </p:sp>
      <p:sp>
        <p:nvSpPr>
          <p:cNvPr id="4" name="Rectangle 3"/>
          <p:cNvSpPr/>
          <p:nvPr/>
        </p:nvSpPr>
        <p:spPr>
          <a:xfrm>
            <a:off x="365760" y="1627632"/>
            <a:ext cx="1143000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874519"/>
            <a:ext cx="5669280" cy="9601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947672"/>
            <a:ext cx="5303520" cy="384048"/>
          </a:xfrm>
          <a:prstGeom prst="rect">
            <a:avLst/>
          </a:prstGeom>
          <a:noFill/>
        </p:spPr>
        <p:txBody>
          <a:bodyPr wrap="square">
            <a:spAutoFit/>
          </a:bodyPr>
          <a:lstStyle/>
          <a:p>
            <a:pPr algn="l"/>
            <a:r>
              <a:rPr sz="1400" b="1">
                <a:solidFill>
                  <a:srgbClr val="00C2FF"/>
                </a:solidFill>
                <a:latin typeface="Calibri"/>
              </a:rPr>
              <a:t>◆  Bank Feed Integration</a:t>
            </a:r>
          </a:p>
        </p:txBody>
      </p:sp>
      <p:sp>
        <p:nvSpPr>
          <p:cNvPr id="7" name="TextBox 6"/>
          <p:cNvSpPr txBox="1"/>
          <p:nvPr/>
        </p:nvSpPr>
        <p:spPr>
          <a:xfrm>
            <a:off x="502920" y="2350008"/>
            <a:ext cx="5303520" cy="384048"/>
          </a:xfrm>
          <a:prstGeom prst="rect">
            <a:avLst/>
          </a:prstGeom>
          <a:noFill/>
        </p:spPr>
        <p:txBody>
          <a:bodyPr wrap="square">
            <a:spAutoFit/>
          </a:bodyPr>
          <a:lstStyle/>
          <a:p>
            <a:pPr algn="l"/>
            <a:r>
              <a:rPr sz="1300" b="0">
                <a:solidFill>
                  <a:srgbClr val="B0BEC5"/>
                </a:solidFill>
                <a:latin typeface="Calibri"/>
              </a:rPr>
              <a:t>Real-time connection to your financial institution — any bank</a:t>
            </a:r>
          </a:p>
        </p:txBody>
      </p:sp>
      <p:sp>
        <p:nvSpPr>
          <p:cNvPr id="8" name="Rectangle 7"/>
          <p:cNvSpPr/>
          <p:nvPr/>
        </p:nvSpPr>
        <p:spPr>
          <a:xfrm>
            <a:off x="320040" y="2971800"/>
            <a:ext cx="5669280" cy="9601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044952"/>
            <a:ext cx="5303520" cy="384048"/>
          </a:xfrm>
          <a:prstGeom prst="rect">
            <a:avLst/>
          </a:prstGeom>
          <a:noFill/>
        </p:spPr>
        <p:txBody>
          <a:bodyPr wrap="square">
            <a:spAutoFit/>
          </a:bodyPr>
          <a:lstStyle/>
          <a:p>
            <a:pPr algn="l"/>
            <a:r>
              <a:rPr sz="1400" b="1">
                <a:solidFill>
                  <a:srgbClr val="00C2FF"/>
                </a:solidFill>
                <a:latin typeface="Calibri"/>
              </a:rPr>
              <a:t>◆  ERP / Accounting System Sync</a:t>
            </a:r>
          </a:p>
        </p:txBody>
      </p:sp>
      <p:sp>
        <p:nvSpPr>
          <p:cNvPr id="10" name="TextBox 9"/>
          <p:cNvSpPr txBox="1"/>
          <p:nvPr/>
        </p:nvSpPr>
        <p:spPr>
          <a:xfrm>
            <a:off x="502920" y="3447288"/>
            <a:ext cx="5303520" cy="384048"/>
          </a:xfrm>
          <a:prstGeom prst="rect">
            <a:avLst/>
          </a:prstGeom>
          <a:noFill/>
        </p:spPr>
        <p:txBody>
          <a:bodyPr wrap="square">
            <a:spAutoFit/>
          </a:bodyPr>
          <a:lstStyle/>
          <a:p>
            <a:pPr algn="l"/>
            <a:r>
              <a:rPr sz="1300" b="0">
                <a:solidFill>
                  <a:srgbClr val="B0BEC5"/>
                </a:solidFill>
                <a:latin typeface="Calibri"/>
              </a:rPr>
              <a:t>Payments auto-posted and matched to open invoices in your system</a:t>
            </a:r>
          </a:p>
        </p:txBody>
      </p:sp>
      <p:sp>
        <p:nvSpPr>
          <p:cNvPr id="11" name="Rectangle 10"/>
          <p:cNvSpPr/>
          <p:nvPr/>
        </p:nvSpPr>
        <p:spPr>
          <a:xfrm>
            <a:off x="320040" y="4069079"/>
            <a:ext cx="5669280" cy="9601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142231"/>
            <a:ext cx="5303520" cy="384048"/>
          </a:xfrm>
          <a:prstGeom prst="rect">
            <a:avLst/>
          </a:prstGeom>
          <a:noFill/>
        </p:spPr>
        <p:txBody>
          <a:bodyPr wrap="square">
            <a:spAutoFit/>
          </a:bodyPr>
          <a:lstStyle/>
          <a:p>
            <a:pPr algn="l"/>
            <a:r>
              <a:rPr sz="1400" b="1">
                <a:solidFill>
                  <a:srgbClr val="00C2FF"/>
                </a:solidFill>
                <a:latin typeface="Calibri"/>
              </a:rPr>
              <a:t>◆  AI Matching Engine</a:t>
            </a:r>
          </a:p>
        </p:txBody>
      </p:sp>
      <p:sp>
        <p:nvSpPr>
          <p:cNvPr id="13" name="TextBox 12"/>
          <p:cNvSpPr txBox="1"/>
          <p:nvPr/>
        </p:nvSpPr>
        <p:spPr>
          <a:xfrm>
            <a:off x="502920" y="4544567"/>
            <a:ext cx="5303520" cy="384048"/>
          </a:xfrm>
          <a:prstGeom prst="rect">
            <a:avLst/>
          </a:prstGeom>
          <a:noFill/>
        </p:spPr>
        <p:txBody>
          <a:bodyPr wrap="square">
            <a:spAutoFit/>
          </a:bodyPr>
          <a:lstStyle/>
          <a:p>
            <a:pPr algn="l"/>
            <a:r>
              <a:rPr sz="1300" b="0">
                <a:solidFill>
                  <a:srgbClr val="B0BEC5"/>
                </a:solidFill>
                <a:latin typeface="Calibri"/>
              </a:rPr>
              <a:t>Trained on your customer history and invoice patterns</a:t>
            </a:r>
          </a:p>
        </p:txBody>
      </p:sp>
      <p:sp>
        <p:nvSpPr>
          <p:cNvPr id="14" name="Rectangle 13"/>
          <p:cNvSpPr/>
          <p:nvPr/>
        </p:nvSpPr>
        <p:spPr>
          <a:xfrm>
            <a:off x="320040" y="5166359"/>
            <a:ext cx="5669280" cy="9601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5239512"/>
            <a:ext cx="5303520" cy="384048"/>
          </a:xfrm>
          <a:prstGeom prst="rect">
            <a:avLst/>
          </a:prstGeom>
          <a:noFill/>
        </p:spPr>
        <p:txBody>
          <a:bodyPr wrap="square">
            <a:spAutoFit/>
          </a:bodyPr>
          <a:lstStyle/>
          <a:p>
            <a:pPr algn="l"/>
            <a:r>
              <a:rPr sz="1400" b="1">
                <a:solidFill>
                  <a:srgbClr val="00C2FF"/>
                </a:solidFill>
                <a:latin typeface="Calibri"/>
              </a:rPr>
              <a:t>◆  Team Approval Workflow</a:t>
            </a:r>
          </a:p>
        </p:txBody>
      </p:sp>
      <p:sp>
        <p:nvSpPr>
          <p:cNvPr id="16" name="TextBox 15"/>
          <p:cNvSpPr txBox="1"/>
          <p:nvPr/>
        </p:nvSpPr>
        <p:spPr>
          <a:xfrm>
            <a:off x="502920" y="5641848"/>
            <a:ext cx="5303520" cy="384048"/>
          </a:xfrm>
          <a:prstGeom prst="rect">
            <a:avLst/>
          </a:prstGeom>
          <a:noFill/>
        </p:spPr>
        <p:txBody>
          <a:bodyPr wrap="square">
            <a:spAutoFit/>
          </a:bodyPr>
          <a:lstStyle/>
          <a:p>
            <a:pPr algn="l"/>
            <a:r>
              <a:rPr sz="1300" b="0">
                <a:solidFill>
                  <a:srgbClr val="B0BEC5"/>
                </a:solidFill>
                <a:latin typeface="Calibri"/>
              </a:rPr>
              <a:t>One-click resolution for exceptions — works in Slack, email, or browser</a:t>
            </a:r>
          </a:p>
        </p:txBody>
      </p:sp>
      <p:sp>
        <p:nvSpPr>
          <p:cNvPr id="17" name="Rectangle 16"/>
          <p:cNvSpPr/>
          <p:nvPr/>
        </p:nvSpPr>
        <p:spPr>
          <a:xfrm>
            <a:off x="6309359" y="1874519"/>
            <a:ext cx="5669280" cy="9601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947672"/>
            <a:ext cx="5303520" cy="384048"/>
          </a:xfrm>
          <a:prstGeom prst="rect">
            <a:avLst/>
          </a:prstGeom>
          <a:noFill/>
        </p:spPr>
        <p:txBody>
          <a:bodyPr wrap="square">
            <a:spAutoFit/>
          </a:bodyPr>
          <a:lstStyle/>
          <a:p>
            <a:pPr algn="l"/>
            <a:r>
              <a:rPr sz="1400" b="1">
                <a:solidFill>
                  <a:srgbClr val="00C2FF"/>
                </a:solidFill>
                <a:latin typeface="Calibri"/>
              </a:rPr>
              <a:t>◆  AR Aging Dashboard</a:t>
            </a:r>
          </a:p>
        </p:txBody>
      </p:sp>
      <p:sp>
        <p:nvSpPr>
          <p:cNvPr id="19" name="TextBox 18"/>
          <p:cNvSpPr txBox="1"/>
          <p:nvPr/>
        </p:nvSpPr>
        <p:spPr>
          <a:xfrm>
            <a:off x="6492240" y="2350008"/>
            <a:ext cx="5303520" cy="384048"/>
          </a:xfrm>
          <a:prstGeom prst="rect">
            <a:avLst/>
          </a:prstGeom>
          <a:noFill/>
        </p:spPr>
        <p:txBody>
          <a:bodyPr wrap="square">
            <a:spAutoFit/>
          </a:bodyPr>
          <a:lstStyle/>
          <a:p>
            <a:pPr algn="l"/>
            <a:r>
              <a:rPr sz="1300" b="0">
                <a:solidFill>
                  <a:srgbClr val="B0BEC5"/>
                </a:solidFill>
                <a:latin typeface="Calibri"/>
              </a:rPr>
              <a:t>Live dashboard: DSO trend, aging buckets, invoice status at a glance</a:t>
            </a:r>
          </a:p>
        </p:txBody>
      </p:sp>
      <p:sp>
        <p:nvSpPr>
          <p:cNvPr id="20" name="Rectangle 19"/>
          <p:cNvSpPr/>
          <p:nvPr/>
        </p:nvSpPr>
        <p:spPr>
          <a:xfrm>
            <a:off x="6309359" y="2971800"/>
            <a:ext cx="5669280" cy="9601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044952"/>
            <a:ext cx="5303520" cy="384048"/>
          </a:xfrm>
          <a:prstGeom prst="rect">
            <a:avLst/>
          </a:prstGeom>
          <a:noFill/>
        </p:spPr>
        <p:txBody>
          <a:bodyPr wrap="square">
            <a:spAutoFit/>
          </a:bodyPr>
          <a:lstStyle/>
          <a:p>
            <a:pPr algn="l"/>
            <a:r>
              <a:rPr sz="1400" b="1">
                <a:solidFill>
                  <a:srgbClr val="00C2FF"/>
                </a:solidFill>
                <a:latin typeface="Calibri"/>
              </a:rPr>
              <a:t>◆  Full Audit Log</a:t>
            </a:r>
          </a:p>
        </p:txBody>
      </p:sp>
      <p:sp>
        <p:nvSpPr>
          <p:cNvPr id="22" name="TextBox 21"/>
          <p:cNvSpPr txBox="1"/>
          <p:nvPr/>
        </p:nvSpPr>
        <p:spPr>
          <a:xfrm>
            <a:off x="6492240" y="3447288"/>
            <a:ext cx="5303520" cy="384048"/>
          </a:xfrm>
          <a:prstGeom prst="rect">
            <a:avLst/>
          </a:prstGeom>
          <a:noFill/>
        </p:spPr>
        <p:txBody>
          <a:bodyPr wrap="square">
            <a:spAutoFit/>
          </a:bodyPr>
          <a:lstStyle/>
          <a:p>
            <a:pPr algn="l"/>
            <a:r>
              <a:rPr sz="1300" b="0">
                <a:solidFill>
                  <a:srgbClr val="B0BEC5"/>
                </a:solidFill>
                <a:latin typeface="Calibri"/>
              </a:rPr>
              <a:t>Every match decision recorded — searchable, exportable, audit-ready</a:t>
            </a:r>
          </a:p>
        </p:txBody>
      </p:sp>
      <p:sp>
        <p:nvSpPr>
          <p:cNvPr id="23" name="Rectangle 22"/>
          <p:cNvSpPr/>
          <p:nvPr/>
        </p:nvSpPr>
        <p:spPr>
          <a:xfrm>
            <a:off x="6309359" y="4069079"/>
            <a:ext cx="5669280" cy="9601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4142231"/>
            <a:ext cx="5303520" cy="384048"/>
          </a:xfrm>
          <a:prstGeom prst="rect">
            <a:avLst/>
          </a:prstGeom>
          <a:noFill/>
        </p:spPr>
        <p:txBody>
          <a:bodyPr wrap="square">
            <a:spAutoFit/>
          </a:bodyPr>
          <a:lstStyle/>
          <a:p>
            <a:pPr algn="l"/>
            <a:r>
              <a:rPr sz="1400" b="1">
                <a:solidFill>
                  <a:srgbClr val="00C2FF"/>
                </a:solidFill>
                <a:latin typeface="Calibri"/>
              </a:rPr>
              <a:t>◆  Daily AR Health Summary</a:t>
            </a:r>
          </a:p>
        </p:txBody>
      </p:sp>
      <p:sp>
        <p:nvSpPr>
          <p:cNvPr id="25" name="TextBox 24"/>
          <p:cNvSpPr txBox="1"/>
          <p:nvPr/>
        </p:nvSpPr>
        <p:spPr>
          <a:xfrm>
            <a:off x="6492240" y="4544567"/>
            <a:ext cx="5303520" cy="384048"/>
          </a:xfrm>
          <a:prstGeom prst="rect">
            <a:avLst/>
          </a:prstGeom>
          <a:noFill/>
        </p:spPr>
        <p:txBody>
          <a:bodyPr wrap="square">
            <a:spAutoFit/>
          </a:bodyPr>
          <a:lstStyle/>
          <a:p>
            <a:pPr algn="l"/>
            <a:r>
              <a:rPr sz="1300" b="0">
                <a:solidFill>
                  <a:srgbClr val="B0BEC5"/>
                </a:solidFill>
                <a:latin typeface="Calibri"/>
              </a:rPr>
              <a:t>Finance team receives AR snapshot each morning — no manual pull</a:t>
            </a:r>
          </a:p>
        </p:txBody>
      </p:sp>
      <p:sp>
        <p:nvSpPr>
          <p:cNvPr id="26" name="Rectangle 25"/>
          <p:cNvSpPr/>
          <p:nvPr/>
        </p:nvSpPr>
        <p:spPr>
          <a:xfrm>
            <a:off x="6309359" y="5166359"/>
            <a:ext cx="5669280" cy="9601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5239512"/>
            <a:ext cx="5303520" cy="384048"/>
          </a:xfrm>
          <a:prstGeom prst="rect">
            <a:avLst/>
          </a:prstGeom>
          <a:noFill/>
        </p:spPr>
        <p:txBody>
          <a:bodyPr wrap="square">
            <a:spAutoFit/>
          </a:bodyPr>
          <a:lstStyle/>
          <a:p>
            <a:pPr algn="l"/>
            <a:r>
              <a:rPr sz="1400" b="1">
                <a:solidFill>
                  <a:srgbClr val="00C2FF"/>
                </a:solidFill>
                <a:latin typeface="Calibri"/>
              </a:rPr>
              <a:t>◆  Dedicated Implementation Lead</a:t>
            </a:r>
          </a:p>
        </p:txBody>
      </p:sp>
      <p:sp>
        <p:nvSpPr>
          <p:cNvPr id="28" name="TextBox 27"/>
          <p:cNvSpPr txBox="1"/>
          <p:nvPr/>
        </p:nvSpPr>
        <p:spPr>
          <a:xfrm>
            <a:off x="6492240" y="5641848"/>
            <a:ext cx="5303520" cy="384048"/>
          </a:xfrm>
          <a:prstGeom prst="rect">
            <a:avLst/>
          </a:prstGeom>
          <a:noFill/>
        </p:spPr>
        <p:txBody>
          <a:bodyPr wrap="square">
            <a:spAutoFit/>
          </a:bodyPr>
          <a:lstStyle/>
          <a:p>
            <a:pPr algn="l"/>
            <a:r>
              <a:rPr sz="1300" b="0">
                <a:solidFill>
                  <a:srgbClr val="B0BEC5"/>
                </a:solidFill>
                <a:latin typeface="Calibri"/>
              </a:rPr>
              <a:t>White-glove onboarding — live in under two weeks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365760" y="274320"/>
            <a:ext cx="11430000" cy="548640"/>
          </a:xfrm>
          <a:prstGeom prst="rect">
            <a:avLst/>
          </a:prstGeom>
          <a:noFill/>
        </p:spPr>
        <p:txBody>
          <a:bodyPr wrap="square">
            <a:spAutoFit/>
          </a:bodyPr>
          <a:lstStyle/>
          <a:p>
            <a:pPr algn="l"/>
            <a:r>
              <a:rPr sz="1100" b="1">
                <a:solidFill>
                  <a:srgbClr val="00C2FF"/>
                </a:solidFill>
                <a:latin typeface="Calibri"/>
              </a:rPr>
              <a:t>INVESTMENT</a:t>
            </a:r>
          </a:p>
        </p:txBody>
      </p:sp>
      <p:sp>
        <p:nvSpPr>
          <p:cNvPr id="3" name="TextBox 2"/>
          <p:cNvSpPr txBox="1"/>
          <p:nvPr/>
        </p:nvSpPr>
        <p:spPr>
          <a:xfrm>
            <a:off x="365760" y="685800"/>
            <a:ext cx="10972800" cy="777240"/>
          </a:xfrm>
          <a:prstGeom prst="rect">
            <a:avLst/>
          </a:prstGeom>
          <a:noFill/>
        </p:spPr>
        <p:txBody>
          <a:bodyPr wrap="square">
            <a:spAutoFit/>
          </a:bodyPr>
          <a:lstStyle/>
          <a:p>
            <a:pPr algn="l"/>
            <a:r>
              <a:rPr sz="2700" b="1">
                <a:solidFill>
                  <a:srgbClr val="FFFFFF"/>
                </a:solidFill>
                <a:latin typeface="Calibri"/>
              </a:rPr>
              <a:t>Transparent Flat-Rate Pricing — No Per-Transaction Fees</a:t>
            </a:r>
          </a:p>
        </p:txBody>
      </p:sp>
      <p:sp>
        <p:nvSpPr>
          <p:cNvPr id="4" name="Rectangle 3"/>
          <p:cNvSpPr/>
          <p:nvPr/>
        </p:nvSpPr>
        <p:spPr>
          <a:xfrm>
            <a:off x="365760" y="1627632"/>
            <a:ext cx="1143000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755648"/>
            <a:ext cx="3566160" cy="48463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240280"/>
            <a:ext cx="3291840" cy="475488"/>
          </a:xfrm>
          <a:prstGeom prst="rect">
            <a:avLst/>
          </a:prstGeom>
          <a:noFill/>
        </p:spPr>
        <p:txBody>
          <a:bodyPr wrap="square">
            <a:spAutoFit/>
          </a:bodyPr>
          <a:lstStyle/>
          <a:p>
            <a:pPr algn="l"/>
            <a:r>
              <a:rPr sz="1800" b="1">
                <a:solidFill>
                  <a:srgbClr val="FFFFFF"/>
                </a:solidFill>
                <a:latin typeface="Calibri"/>
              </a:rPr>
              <a:t>Essentials</a:t>
            </a:r>
          </a:p>
        </p:txBody>
      </p:sp>
      <p:sp>
        <p:nvSpPr>
          <p:cNvPr id="7" name="TextBox 6"/>
          <p:cNvSpPr txBox="1"/>
          <p:nvPr/>
        </p:nvSpPr>
        <p:spPr>
          <a:xfrm>
            <a:off x="594360" y="2697480"/>
            <a:ext cx="2194560" cy="749808"/>
          </a:xfrm>
          <a:prstGeom prst="rect">
            <a:avLst/>
          </a:prstGeom>
          <a:noFill/>
        </p:spPr>
        <p:txBody>
          <a:bodyPr wrap="square">
            <a:spAutoFit/>
          </a:bodyPr>
          <a:lstStyle/>
          <a:p>
            <a:pPr algn="l"/>
            <a:r>
              <a:rPr sz="3800" b="1">
                <a:solidFill>
                  <a:srgbClr val="00C2FF"/>
                </a:solidFill>
                <a:latin typeface="Calibri"/>
              </a:rPr>
              <a:t>$697</a:t>
            </a:r>
          </a:p>
        </p:txBody>
      </p:sp>
      <p:sp>
        <p:nvSpPr>
          <p:cNvPr id="8" name="TextBox 7"/>
          <p:cNvSpPr txBox="1"/>
          <p:nvPr/>
        </p:nvSpPr>
        <p:spPr>
          <a:xfrm>
            <a:off x="2606040" y="3090672"/>
            <a:ext cx="1005840" cy="347472"/>
          </a:xfrm>
          <a:prstGeom prst="rect">
            <a:avLst/>
          </a:prstGeom>
          <a:noFill/>
        </p:spPr>
        <p:txBody>
          <a:bodyPr wrap="square">
            <a:spAutoFit/>
          </a:bodyPr>
          <a:lstStyle/>
          <a:p>
            <a:pPr algn="l"/>
            <a:r>
              <a:rPr sz="1400" b="0">
                <a:solidFill>
                  <a:srgbClr val="B0BEC5"/>
                </a:solidFill>
                <a:latin typeface="Calibri"/>
              </a:rPr>
              <a:t>/mo</a:t>
            </a:r>
          </a:p>
        </p:txBody>
      </p:sp>
      <p:sp>
        <p:nvSpPr>
          <p:cNvPr id="9" name="TextBox 8"/>
          <p:cNvSpPr txBox="1"/>
          <p:nvPr/>
        </p:nvSpPr>
        <p:spPr>
          <a:xfrm>
            <a:off x="594360" y="3456432"/>
            <a:ext cx="3291840" cy="347472"/>
          </a:xfrm>
          <a:prstGeom prst="rect">
            <a:avLst/>
          </a:prstGeom>
          <a:noFill/>
        </p:spPr>
        <p:txBody>
          <a:bodyPr wrap="square">
            <a:spAutoFit/>
          </a:bodyPr>
          <a:lstStyle/>
          <a:p>
            <a:pPr algn="l"/>
            <a:r>
              <a:rPr sz="1200" b="0">
                <a:solidFill>
                  <a:srgbClr val="B0BEC5"/>
                </a:solidFill>
                <a:latin typeface="Calibri"/>
              </a:rPr>
              <a:t>Up to 150 invoices/month</a:t>
            </a:r>
          </a:p>
        </p:txBody>
      </p:sp>
      <p:sp>
        <p:nvSpPr>
          <p:cNvPr id="10" name="Rectangle 9"/>
          <p:cNvSpPr/>
          <p:nvPr/>
        </p:nvSpPr>
        <p:spPr>
          <a:xfrm>
            <a:off x="731520" y="3913632"/>
            <a:ext cx="297180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041648"/>
            <a:ext cx="3337560" cy="384048"/>
          </a:xfrm>
          <a:prstGeom prst="rect">
            <a:avLst/>
          </a:prstGeom>
          <a:noFill/>
        </p:spPr>
        <p:txBody>
          <a:bodyPr wrap="square">
            <a:spAutoFit/>
          </a:bodyPr>
          <a:lstStyle/>
          <a:p>
            <a:pPr algn="l"/>
            <a:r>
              <a:rPr sz="1200" b="0">
                <a:solidFill>
                  <a:srgbClr val="FFFFFF"/>
                </a:solidFill>
                <a:latin typeface="Calibri"/>
              </a:rPr>
              <a:t>✓  Full cash application automation</a:t>
            </a:r>
          </a:p>
        </p:txBody>
      </p:sp>
      <p:sp>
        <p:nvSpPr>
          <p:cNvPr id="12" name="TextBox 11"/>
          <p:cNvSpPr txBox="1"/>
          <p:nvPr/>
        </p:nvSpPr>
        <p:spPr>
          <a:xfrm>
            <a:off x="594360" y="4462272"/>
            <a:ext cx="3337560" cy="384048"/>
          </a:xfrm>
          <a:prstGeom prst="rect">
            <a:avLst/>
          </a:prstGeom>
          <a:noFill/>
        </p:spPr>
        <p:txBody>
          <a:bodyPr wrap="square">
            <a:spAutoFit/>
          </a:bodyPr>
          <a:lstStyle/>
          <a:p>
            <a:pPr algn="l"/>
            <a:r>
              <a:rPr sz="1200" b="0">
                <a:solidFill>
                  <a:srgbClr val="FFFFFF"/>
                </a:solidFill>
                <a:latin typeface="Calibri"/>
              </a:rPr>
              <a:t>✓  Bank feed + ERP integration</a:t>
            </a:r>
          </a:p>
        </p:txBody>
      </p:sp>
      <p:sp>
        <p:nvSpPr>
          <p:cNvPr id="13" name="TextBox 12"/>
          <p:cNvSpPr txBox="1"/>
          <p:nvPr/>
        </p:nvSpPr>
        <p:spPr>
          <a:xfrm>
            <a:off x="594360" y="4882896"/>
            <a:ext cx="3337560" cy="384048"/>
          </a:xfrm>
          <a:prstGeom prst="rect">
            <a:avLst/>
          </a:prstGeom>
          <a:noFill/>
        </p:spPr>
        <p:txBody>
          <a:bodyPr wrap="square">
            <a:spAutoFit/>
          </a:bodyPr>
          <a:lstStyle/>
          <a:p>
            <a:pPr algn="l"/>
            <a:r>
              <a:rPr sz="1200" b="0">
                <a:solidFill>
                  <a:srgbClr val="FFFFFF"/>
                </a:solidFill>
                <a:latin typeface="Calibri"/>
              </a:rPr>
              <a:t>✓  Team approval workflow</a:t>
            </a:r>
          </a:p>
        </p:txBody>
      </p:sp>
      <p:sp>
        <p:nvSpPr>
          <p:cNvPr id="14" name="TextBox 13"/>
          <p:cNvSpPr txBox="1"/>
          <p:nvPr/>
        </p:nvSpPr>
        <p:spPr>
          <a:xfrm>
            <a:off x="594360" y="5303520"/>
            <a:ext cx="3337560" cy="384048"/>
          </a:xfrm>
          <a:prstGeom prst="rect">
            <a:avLst/>
          </a:prstGeom>
          <a:noFill/>
        </p:spPr>
        <p:txBody>
          <a:bodyPr wrap="square">
            <a:spAutoFit/>
          </a:bodyPr>
          <a:lstStyle/>
          <a:p>
            <a:pPr algn="l"/>
            <a:r>
              <a:rPr sz="1200" b="0">
                <a:solidFill>
                  <a:srgbClr val="FFFFFF"/>
                </a:solidFill>
                <a:latin typeface="Calibri"/>
              </a:rPr>
              <a:t>✓  AR aging dashboard</a:t>
            </a:r>
          </a:p>
        </p:txBody>
      </p:sp>
      <p:sp>
        <p:nvSpPr>
          <p:cNvPr id="15" name="TextBox 14"/>
          <p:cNvSpPr txBox="1"/>
          <p:nvPr/>
        </p:nvSpPr>
        <p:spPr>
          <a:xfrm>
            <a:off x="594360" y="5724144"/>
            <a:ext cx="3337560" cy="384048"/>
          </a:xfrm>
          <a:prstGeom prst="rect">
            <a:avLst/>
          </a:prstGeom>
          <a:noFill/>
        </p:spPr>
        <p:txBody>
          <a:bodyPr wrap="square">
            <a:spAutoFit/>
          </a:bodyPr>
          <a:lstStyle/>
          <a:p>
            <a:pPr algn="l"/>
            <a:r>
              <a:rPr sz="1200" b="0">
                <a:solidFill>
                  <a:srgbClr val="FFFFFF"/>
                </a:solidFill>
                <a:latin typeface="Calibri"/>
              </a:rPr>
              <a:t>✓  Email support</a:t>
            </a:r>
          </a:p>
        </p:txBody>
      </p:sp>
      <p:sp>
        <p:nvSpPr>
          <p:cNvPr id="16" name="Rectangle 15"/>
          <p:cNvSpPr/>
          <p:nvPr/>
        </p:nvSpPr>
        <p:spPr>
          <a:xfrm>
            <a:off x="4297680" y="1755648"/>
            <a:ext cx="3566160" cy="484632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1755648"/>
            <a:ext cx="3383280" cy="347472"/>
          </a:xfrm>
          <a:prstGeom prst="rect">
            <a:avLst/>
          </a:prstGeom>
          <a:solidFill>
            <a:srgbClr val="00C2FF"/>
          </a:solidFill>
        </p:spPr>
        <p:txBody>
          <a:bodyPr wrap="square">
            <a:spAutoFit/>
          </a:bodyPr>
          <a:lstStyle/>
          <a:p>
            <a:pPr algn="ctr"/>
            <a:r>
              <a:rPr sz="1100" b="1">
                <a:solidFill>
                  <a:srgbClr val="0D1B2A"/>
                </a:solidFill>
                <a:latin typeface="Calibri"/>
              </a:rPr>
              <a:t>  MOST POPULAR</a:t>
            </a:r>
          </a:p>
        </p:txBody>
      </p:sp>
      <p:sp>
        <p:nvSpPr>
          <p:cNvPr id="18" name="TextBox 17"/>
          <p:cNvSpPr txBox="1"/>
          <p:nvPr/>
        </p:nvSpPr>
        <p:spPr>
          <a:xfrm>
            <a:off x="4434840" y="2240280"/>
            <a:ext cx="3291840" cy="475488"/>
          </a:xfrm>
          <a:prstGeom prst="rect">
            <a:avLst/>
          </a:prstGeom>
          <a:noFill/>
        </p:spPr>
        <p:txBody>
          <a:bodyPr wrap="square">
            <a:spAutoFit/>
          </a:bodyPr>
          <a:lstStyle/>
          <a:p>
            <a:pPr algn="l"/>
            <a:r>
              <a:rPr sz="1800" b="1">
                <a:solidFill>
                  <a:srgbClr val="FFFFFF"/>
                </a:solidFill>
                <a:latin typeface="Calibri"/>
              </a:rPr>
              <a:t>Professional</a:t>
            </a:r>
          </a:p>
        </p:txBody>
      </p:sp>
      <p:sp>
        <p:nvSpPr>
          <p:cNvPr id="19" name="TextBox 18"/>
          <p:cNvSpPr txBox="1"/>
          <p:nvPr/>
        </p:nvSpPr>
        <p:spPr>
          <a:xfrm>
            <a:off x="4434840" y="2697480"/>
            <a:ext cx="2194560" cy="749808"/>
          </a:xfrm>
          <a:prstGeom prst="rect">
            <a:avLst/>
          </a:prstGeom>
          <a:noFill/>
        </p:spPr>
        <p:txBody>
          <a:bodyPr wrap="square">
            <a:spAutoFit/>
          </a:bodyPr>
          <a:lstStyle/>
          <a:p>
            <a:pPr algn="l"/>
            <a:r>
              <a:rPr sz="3800" b="1">
                <a:solidFill>
                  <a:srgbClr val="00C2FF"/>
                </a:solidFill>
                <a:latin typeface="Calibri"/>
              </a:rPr>
              <a:t>$1,497</a:t>
            </a:r>
          </a:p>
        </p:txBody>
      </p:sp>
      <p:sp>
        <p:nvSpPr>
          <p:cNvPr id="20" name="TextBox 19"/>
          <p:cNvSpPr txBox="1"/>
          <p:nvPr/>
        </p:nvSpPr>
        <p:spPr>
          <a:xfrm>
            <a:off x="6446520" y="3090672"/>
            <a:ext cx="1005840" cy="347472"/>
          </a:xfrm>
          <a:prstGeom prst="rect">
            <a:avLst/>
          </a:prstGeom>
          <a:noFill/>
        </p:spPr>
        <p:txBody>
          <a:bodyPr wrap="square">
            <a:spAutoFit/>
          </a:bodyPr>
          <a:lstStyle/>
          <a:p>
            <a:pPr algn="l"/>
            <a:r>
              <a:rPr sz="1400" b="0">
                <a:solidFill>
                  <a:srgbClr val="B0BEC5"/>
                </a:solidFill>
                <a:latin typeface="Calibri"/>
              </a:rPr>
              <a:t>/mo</a:t>
            </a:r>
          </a:p>
        </p:txBody>
      </p:sp>
      <p:sp>
        <p:nvSpPr>
          <p:cNvPr id="21" name="TextBox 20"/>
          <p:cNvSpPr txBox="1"/>
          <p:nvPr/>
        </p:nvSpPr>
        <p:spPr>
          <a:xfrm>
            <a:off x="4434840" y="3456432"/>
            <a:ext cx="3291840" cy="347472"/>
          </a:xfrm>
          <a:prstGeom prst="rect">
            <a:avLst/>
          </a:prstGeom>
          <a:noFill/>
        </p:spPr>
        <p:txBody>
          <a:bodyPr wrap="square">
            <a:spAutoFit/>
          </a:bodyPr>
          <a:lstStyle/>
          <a:p>
            <a:pPr algn="l"/>
            <a:r>
              <a:rPr sz="1200" b="0">
                <a:solidFill>
                  <a:srgbClr val="B0BEC5"/>
                </a:solidFill>
                <a:latin typeface="Calibri"/>
              </a:rPr>
              <a:t>Up to 250 invoices/month</a:t>
            </a:r>
          </a:p>
        </p:txBody>
      </p:sp>
      <p:sp>
        <p:nvSpPr>
          <p:cNvPr id="22" name="Rectangle 21"/>
          <p:cNvSpPr/>
          <p:nvPr/>
        </p:nvSpPr>
        <p:spPr>
          <a:xfrm>
            <a:off x="4572000" y="3913632"/>
            <a:ext cx="297180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4041648"/>
            <a:ext cx="3337560" cy="384048"/>
          </a:xfrm>
          <a:prstGeom prst="rect">
            <a:avLst/>
          </a:prstGeom>
          <a:noFill/>
        </p:spPr>
        <p:txBody>
          <a:bodyPr wrap="square">
            <a:spAutoFit/>
          </a:bodyPr>
          <a:lstStyle/>
          <a:p>
            <a:pPr algn="l"/>
            <a:r>
              <a:rPr sz="1200" b="0">
                <a:solidFill>
                  <a:srgbClr val="FFFFFF"/>
                </a:solidFill>
                <a:latin typeface="Calibri"/>
              </a:rPr>
              <a:t>✓  Everything in Essentials</a:t>
            </a:r>
          </a:p>
        </p:txBody>
      </p:sp>
      <p:sp>
        <p:nvSpPr>
          <p:cNvPr id="24" name="TextBox 23"/>
          <p:cNvSpPr txBox="1"/>
          <p:nvPr/>
        </p:nvSpPr>
        <p:spPr>
          <a:xfrm>
            <a:off x="4434840" y="4462272"/>
            <a:ext cx="3337560" cy="384048"/>
          </a:xfrm>
          <a:prstGeom prst="rect">
            <a:avLst/>
          </a:prstGeom>
          <a:noFill/>
        </p:spPr>
        <p:txBody>
          <a:bodyPr wrap="square">
            <a:spAutoFit/>
          </a:bodyPr>
          <a:lstStyle/>
          <a:p>
            <a:pPr algn="l"/>
            <a:r>
              <a:rPr sz="1200" b="0">
                <a:solidFill>
                  <a:srgbClr val="FFFFFF"/>
                </a:solidFill>
                <a:latin typeface="Calibri"/>
              </a:rPr>
              <a:t>✓  Priority support channel</a:t>
            </a:r>
          </a:p>
        </p:txBody>
      </p:sp>
      <p:sp>
        <p:nvSpPr>
          <p:cNvPr id="25" name="TextBox 24"/>
          <p:cNvSpPr txBox="1"/>
          <p:nvPr/>
        </p:nvSpPr>
        <p:spPr>
          <a:xfrm>
            <a:off x="4434840" y="4882896"/>
            <a:ext cx="3337560" cy="384048"/>
          </a:xfrm>
          <a:prstGeom prst="rect">
            <a:avLst/>
          </a:prstGeom>
          <a:noFill/>
        </p:spPr>
        <p:txBody>
          <a:bodyPr wrap="square">
            <a:spAutoFit/>
          </a:bodyPr>
          <a:lstStyle/>
          <a:p>
            <a:pPr algn="l"/>
            <a:r>
              <a:rPr sz="1200" b="0">
                <a:solidFill>
                  <a:srgbClr val="FFFFFF"/>
                </a:solidFill>
                <a:latin typeface="Calibri"/>
              </a:rPr>
              <a:t>✓  Custom matching rules</a:t>
            </a:r>
          </a:p>
        </p:txBody>
      </p:sp>
      <p:sp>
        <p:nvSpPr>
          <p:cNvPr id="26" name="TextBox 25"/>
          <p:cNvSpPr txBox="1"/>
          <p:nvPr/>
        </p:nvSpPr>
        <p:spPr>
          <a:xfrm>
            <a:off x="4434840" y="5303520"/>
            <a:ext cx="3337560" cy="384048"/>
          </a:xfrm>
          <a:prstGeom prst="rect">
            <a:avLst/>
          </a:prstGeom>
          <a:noFill/>
        </p:spPr>
        <p:txBody>
          <a:bodyPr wrap="square">
            <a:spAutoFit/>
          </a:bodyPr>
          <a:lstStyle/>
          <a:p>
            <a:pPr algn="l"/>
            <a:r>
              <a:rPr sz="1200" b="0">
                <a:solidFill>
                  <a:srgbClr val="FFFFFF"/>
                </a:solidFill>
                <a:latin typeface="Calibri"/>
              </a:rPr>
              <a:t>✓  Advanced reporting</a:t>
            </a:r>
          </a:p>
        </p:txBody>
      </p:sp>
      <p:sp>
        <p:nvSpPr>
          <p:cNvPr id="27" name="TextBox 26"/>
          <p:cNvSpPr txBox="1"/>
          <p:nvPr/>
        </p:nvSpPr>
        <p:spPr>
          <a:xfrm>
            <a:off x="4434840" y="5724144"/>
            <a:ext cx="3337560" cy="384048"/>
          </a:xfrm>
          <a:prstGeom prst="rect">
            <a:avLst/>
          </a:prstGeom>
          <a:noFill/>
        </p:spPr>
        <p:txBody>
          <a:bodyPr wrap="square">
            <a:spAutoFit/>
          </a:bodyPr>
          <a:lstStyle/>
          <a:p>
            <a:pPr algn="l"/>
            <a:r>
              <a:rPr sz="1200" b="0">
                <a:solidFill>
                  <a:srgbClr val="FFFFFF"/>
                </a:solidFill>
                <a:latin typeface="Calibri"/>
              </a:rPr>
              <a:t>✓  Dedicated customer success</a:t>
            </a:r>
          </a:p>
        </p:txBody>
      </p:sp>
      <p:sp>
        <p:nvSpPr>
          <p:cNvPr id="28" name="Rectangle 27"/>
          <p:cNvSpPr/>
          <p:nvPr/>
        </p:nvSpPr>
        <p:spPr>
          <a:xfrm>
            <a:off x="8138160" y="1755648"/>
            <a:ext cx="3566160" cy="48463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20" y="2240280"/>
            <a:ext cx="3291840" cy="475488"/>
          </a:xfrm>
          <a:prstGeom prst="rect">
            <a:avLst/>
          </a:prstGeom>
          <a:noFill/>
        </p:spPr>
        <p:txBody>
          <a:bodyPr wrap="square">
            <a:spAutoFit/>
          </a:bodyPr>
          <a:lstStyle/>
          <a:p>
            <a:pPr algn="l"/>
            <a:r>
              <a:rPr sz="1800" b="1">
                <a:solidFill>
                  <a:srgbClr val="FFFFFF"/>
                </a:solidFill>
                <a:latin typeface="Calibri"/>
              </a:rPr>
              <a:t>Business</a:t>
            </a:r>
          </a:p>
        </p:txBody>
      </p:sp>
      <p:sp>
        <p:nvSpPr>
          <p:cNvPr id="30" name="TextBox 29"/>
          <p:cNvSpPr txBox="1"/>
          <p:nvPr/>
        </p:nvSpPr>
        <p:spPr>
          <a:xfrm>
            <a:off x="8275320" y="2697480"/>
            <a:ext cx="2194560" cy="749808"/>
          </a:xfrm>
          <a:prstGeom prst="rect">
            <a:avLst/>
          </a:prstGeom>
          <a:noFill/>
        </p:spPr>
        <p:txBody>
          <a:bodyPr wrap="square">
            <a:spAutoFit/>
          </a:bodyPr>
          <a:lstStyle/>
          <a:p>
            <a:pPr algn="l"/>
            <a:r>
              <a:rPr sz="3800" b="1">
                <a:solidFill>
                  <a:srgbClr val="00C2FF"/>
                </a:solidFill>
                <a:latin typeface="Calibri"/>
              </a:rPr>
              <a:t>$2,497</a:t>
            </a:r>
          </a:p>
        </p:txBody>
      </p:sp>
      <p:sp>
        <p:nvSpPr>
          <p:cNvPr id="31" name="TextBox 30"/>
          <p:cNvSpPr txBox="1"/>
          <p:nvPr/>
        </p:nvSpPr>
        <p:spPr>
          <a:xfrm>
            <a:off x="10287000" y="3090672"/>
            <a:ext cx="1005840" cy="347472"/>
          </a:xfrm>
          <a:prstGeom prst="rect">
            <a:avLst/>
          </a:prstGeom>
          <a:noFill/>
        </p:spPr>
        <p:txBody>
          <a:bodyPr wrap="square">
            <a:spAutoFit/>
          </a:bodyPr>
          <a:lstStyle/>
          <a:p>
            <a:pPr algn="l"/>
            <a:r>
              <a:rPr sz="1400" b="0">
                <a:solidFill>
                  <a:srgbClr val="B0BEC5"/>
                </a:solidFill>
                <a:latin typeface="Calibri"/>
              </a:rPr>
              <a:t>/mo</a:t>
            </a:r>
          </a:p>
        </p:txBody>
      </p:sp>
      <p:sp>
        <p:nvSpPr>
          <p:cNvPr id="32" name="TextBox 31"/>
          <p:cNvSpPr txBox="1"/>
          <p:nvPr/>
        </p:nvSpPr>
        <p:spPr>
          <a:xfrm>
            <a:off x="8275320" y="3456432"/>
            <a:ext cx="3291840" cy="347472"/>
          </a:xfrm>
          <a:prstGeom prst="rect">
            <a:avLst/>
          </a:prstGeom>
          <a:noFill/>
        </p:spPr>
        <p:txBody>
          <a:bodyPr wrap="square">
            <a:spAutoFit/>
          </a:bodyPr>
          <a:lstStyle/>
          <a:p>
            <a:pPr algn="l"/>
            <a:r>
              <a:rPr sz="1200" b="0">
                <a:solidFill>
                  <a:srgbClr val="B0BEC5"/>
                </a:solidFill>
                <a:latin typeface="Calibri"/>
              </a:rPr>
              <a:t>Up to 400 invoices/month</a:t>
            </a:r>
          </a:p>
        </p:txBody>
      </p:sp>
      <p:sp>
        <p:nvSpPr>
          <p:cNvPr id="33" name="Rectangle 32"/>
          <p:cNvSpPr/>
          <p:nvPr/>
        </p:nvSpPr>
        <p:spPr>
          <a:xfrm>
            <a:off x="8412480" y="3913632"/>
            <a:ext cx="297180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75320" y="4041648"/>
            <a:ext cx="3337560" cy="384048"/>
          </a:xfrm>
          <a:prstGeom prst="rect">
            <a:avLst/>
          </a:prstGeom>
          <a:noFill/>
        </p:spPr>
        <p:txBody>
          <a:bodyPr wrap="square">
            <a:spAutoFit/>
          </a:bodyPr>
          <a:lstStyle/>
          <a:p>
            <a:pPr algn="l"/>
            <a:r>
              <a:rPr sz="1200" b="0">
                <a:solidFill>
                  <a:srgbClr val="FFFFFF"/>
                </a:solidFill>
                <a:latin typeface="Calibri"/>
              </a:rPr>
              <a:t>✓  Everything in Professional</a:t>
            </a:r>
          </a:p>
        </p:txBody>
      </p:sp>
      <p:sp>
        <p:nvSpPr>
          <p:cNvPr id="35" name="TextBox 34"/>
          <p:cNvSpPr txBox="1"/>
          <p:nvPr/>
        </p:nvSpPr>
        <p:spPr>
          <a:xfrm>
            <a:off x="8275320" y="4462272"/>
            <a:ext cx="3337560" cy="384048"/>
          </a:xfrm>
          <a:prstGeom prst="rect">
            <a:avLst/>
          </a:prstGeom>
          <a:noFill/>
        </p:spPr>
        <p:txBody>
          <a:bodyPr wrap="square">
            <a:spAutoFit/>
          </a:bodyPr>
          <a:lstStyle/>
          <a:p>
            <a:pPr algn="l"/>
            <a:r>
              <a:rPr sz="1200" b="0">
                <a:solidFill>
                  <a:srgbClr val="FFFFFF"/>
                </a:solidFill>
                <a:latin typeface="Calibri"/>
              </a:rPr>
              <a:t>✓  Multi-entity support</a:t>
            </a:r>
          </a:p>
        </p:txBody>
      </p:sp>
      <p:sp>
        <p:nvSpPr>
          <p:cNvPr id="36" name="TextBox 35"/>
          <p:cNvSpPr txBox="1"/>
          <p:nvPr/>
        </p:nvSpPr>
        <p:spPr>
          <a:xfrm>
            <a:off x="8275320" y="4882896"/>
            <a:ext cx="3337560" cy="384048"/>
          </a:xfrm>
          <a:prstGeom prst="rect">
            <a:avLst/>
          </a:prstGeom>
          <a:noFill/>
        </p:spPr>
        <p:txBody>
          <a:bodyPr wrap="square">
            <a:spAutoFit/>
          </a:bodyPr>
          <a:lstStyle/>
          <a:p>
            <a:pPr algn="l"/>
            <a:r>
              <a:rPr sz="1200" b="0">
                <a:solidFill>
                  <a:srgbClr val="FFFFFF"/>
                </a:solidFill>
                <a:latin typeface="Calibri"/>
              </a:rPr>
              <a:t>✓  API access</a:t>
            </a:r>
          </a:p>
        </p:txBody>
      </p:sp>
      <p:sp>
        <p:nvSpPr>
          <p:cNvPr id="37" name="TextBox 36"/>
          <p:cNvSpPr txBox="1"/>
          <p:nvPr/>
        </p:nvSpPr>
        <p:spPr>
          <a:xfrm>
            <a:off x="8275320" y="5303520"/>
            <a:ext cx="3337560" cy="384048"/>
          </a:xfrm>
          <a:prstGeom prst="rect">
            <a:avLst/>
          </a:prstGeom>
          <a:noFill/>
        </p:spPr>
        <p:txBody>
          <a:bodyPr wrap="square">
            <a:spAutoFit/>
          </a:bodyPr>
          <a:lstStyle/>
          <a:p>
            <a:pPr algn="l"/>
            <a:r>
              <a:rPr sz="1200" b="0">
                <a:solidFill>
                  <a:srgbClr val="FFFFFF"/>
                </a:solidFill>
                <a:latin typeface="Calibri"/>
              </a:rPr>
              <a:t>✓  Custom integrations</a:t>
            </a:r>
          </a:p>
        </p:txBody>
      </p:sp>
      <p:sp>
        <p:nvSpPr>
          <p:cNvPr id="38" name="TextBox 37"/>
          <p:cNvSpPr txBox="1"/>
          <p:nvPr/>
        </p:nvSpPr>
        <p:spPr>
          <a:xfrm>
            <a:off x="8275320" y="5724144"/>
            <a:ext cx="3337560" cy="384048"/>
          </a:xfrm>
          <a:prstGeom prst="rect">
            <a:avLst/>
          </a:prstGeom>
          <a:noFill/>
        </p:spPr>
        <p:txBody>
          <a:bodyPr wrap="square">
            <a:spAutoFit/>
          </a:bodyPr>
          <a:lstStyle/>
          <a:p>
            <a:pPr algn="l"/>
            <a:r>
              <a:rPr sz="1200" b="0">
                <a:solidFill>
                  <a:srgbClr val="FFFFFF"/>
                </a:solidFill>
                <a:latin typeface="Calibri"/>
              </a:rPr>
              <a:t>✓  SLA guarantee</a:t>
            </a:r>
          </a:p>
        </p:txBody>
      </p:sp>
      <p:sp>
        <p:nvSpPr>
          <p:cNvPr id="39" name="TextBox 38"/>
          <p:cNvSpPr txBox="1"/>
          <p:nvPr/>
        </p:nvSpPr>
        <p:spPr>
          <a:xfrm>
            <a:off x="365760" y="6446520"/>
            <a:ext cx="11430000" cy="347472"/>
          </a:xfrm>
          <a:prstGeom prst="rect">
            <a:avLst/>
          </a:prstGeom>
          <a:noFill/>
        </p:spPr>
        <p:txBody>
          <a:bodyPr wrap="square">
            <a:spAutoFit/>
          </a:bodyPr>
          <a:lstStyle/>
          <a:p>
            <a:pPr algn="ctr"/>
            <a:r>
              <a:rPr sz="1100" b="0">
                <a:solidFill>
                  <a:srgbClr val="B0BEC5"/>
                </a:solidFill>
                <a:latin typeface="Calibri"/>
              </a:rPr>
              <a:t>Implementation fee: $2,500  (waived with 12-month commitment)  ·  Overage: $5/invoice  ·  60-day satisfaction guarantee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822960"/>
            <a:ext cx="10972800" cy="548640"/>
          </a:xfrm>
          <a:prstGeom prst="rect">
            <a:avLst/>
          </a:prstGeom>
          <a:noFill/>
        </p:spPr>
        <p:txBody>
          <a:bodyPr wrap="square">
            <a:spAutoFit/>
          </a:bodyPr>
          <a:lstStyle/>
          <a:p>
            <a:pPr algn="l"/>
            <a:r>
              <a:rPr sz="1100" b="1">
                <a:solidFill>
                  <a:srgbClr val="00C2FF"/>
                </a:solidFill>
                <a:latin typeface="Calibri"/>
              </a:rPr>
              <a:t>NEXT STEPS</a:t>
            </a:r>
          </a:p>
        </p:txBody>
      </p:sp>
      <p:sp>
        <p:nvSpPr>
          <p:cNvPr id="4" name="TextBox 3"/>
          <p:cNvSpPr txBox="1"/>
          <p:nvPr/>
        </p:nvSpPr>
        <p:spPr>
          <a:xfrm>
            <a:off x="502920" y="1280160"/>
            <a:ext cx="10515600" cy="914400"/>
          </a:xfrm>
          <a:prstGeom prst="rect">
            <a:avLst/>
          </a:prstGeom>
          <a:noFill/>
        </p:spPr>
        <p:txBody>
          <a:bodyPr wrap="square">
            <a:spAutoFit/>
          </a:bodyPr>
          <a:lstStyle/>
          <a:p>
            <a:pPr algn="l"/>
            <a:r>
              <a:rPr sz="3000" b="1">
                <a:solidFill>
                  <a:srgbClr val="FFFFFF"/>
                </a:solidFill>
                <a:latin typeface="Calibri"/>
              </a:rPr>
              <a:t>From First Conversation to Fully Automated — in Under 30 Days</a:t>
            </a:r>
          </a:p>
        </p:txBody>
      </p:sp>
      <p:sp>
        <p:nvSpPr>
          <p:cNvPr id="5" name="Rectangle 4"/>
          <p:cNvSpPr/>
          <p:nvPr/>
        </p:nvSpPr>
        <p:spPr>
          <a:xfrm>
            <a:off x="365760" y="2395728"/>
            <a:ext cx="1143000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2706624"/>
            <a:ext cx="201168" cy="201168"/>
          </a:xfrm>
          <a:prstGeom prst="ellipse">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633472"/>
            <a:ext cx="2286000" cy="384048"/>
          </a:xfrm>
          <a:prstGeom prst="rect">
            <a:avLst/>
          </a:prstGeom>
          <a:noFill/>
        </p:spPr>
        <p:txBody>
          <a:bodyPr wrap="square">
            <a:spAutoFit/>
          </a:bodyPr>
          <a:lstStyle/>
          <a:p>
            <a:pPr algn="l"/>
            <a:r>
              <a:rPr sz="1400" b="1">
                <a:solidFill>
                  <a:srgbClr val="00C2FF"/>
                </a:solidFill>
                <a:latin typeface="Calibri"/>
              </a:rPr>
              <a:t>Today</a:t>
            </a:r>
          </a:p>
        </p:txBody>
      </p:sp>
      <p:sp>
        <p:nvSpPr>
          <p:cNvPr id="8" name="TextBox 7"/>
          <p:cNvSpPr txBox="1"/>
          <p:nvPr/>
        </p:nvSpPr>
        <p:spPr>
          <a:xfrm>
            <a:off x="841248" y="3017520"/>
            <a:ext cx="10515600" cy="347472"/>
          </a:xfrm>
          <a:prstGeom prst="rect">
            <a:avLst/>
          </a:prstGeom>
          <a:noFill/>
        </p:spPr>
        <p:txBody>
          <a:bodyPr wrap="square">
            <a:spAutoFit/>
          </a:bodyPr>
          <a:lstStyle/>
          <a:p>
            <a:pPr algn="l"/>
            <a:r>
              <a:rPr sz="1300" b="0">
                <a:solidFill>
                  <a:srgbClr val="B0BEC5"/>
                </a:solidFill>
                <a:latin typeface="Calibri"/>
              </a:rPr>
              <a:t>Scoping conversation — map your current cash application process, volume, and ERP setup</a:t>
            </a:r>
          </a:p>
        </p:txBody>
      </p:sp>
      <p:sp>
        <p:nvSpPr>
          <p:cNvPr id="9" name="Oval 8"/>
          <p:cNvSpPr/>
          <p:nvPr/>
        </p:nvSpPr>
        <p:spPr>
          <a:xfrm>
            <a:off x="502920" y="3483864"/>
            <a:ext cx="201168" cy="201168"/>
          </a:xfrm>
          <a:prstGeom prst="ellipse">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3410712"/>
            <a:ext cx="2286000" cy="384048"/>
          </a:xfrm>
          <a:prstGeom prst="rect">
            <a:avLst/>
          </a:prstGeom>
          <a:noFill/>
        </p:spPr>
        <p:txBody>
          <a:bodyPr wrap="square">
            <a:spAutoFit/>
          </a:bodyPr>
          <a:lstStyle/>
          <a:p>
            <a:pPr algn="l"/>
            <a:r>
              <a:rPr sz="1400" b="1">
                <a:solidFill>
                  <a:srgbClr val="00C2FF"/>
                </a:solidFill>
                <a:latin typeface="Calibri"/>
              </a:rPr>
              <a:t>Within 48 Hours</a:t>
            </a:r>
          </a:p>
        </p:txBody>
      </p:sp>
      <p:sp>
        <p:nvSpPr>
          <p:cNvPr id="11" name="TextBox 10"/>
          <p:cNvSpPr txBox="1"/>
          <p:nvPr/>
        </p:nvSpPr>
        <p:spPr>
          <a:xfrm>
            <a:off x="841248" y="3794760"/>
            <a:ext cx="10515600" cy="347472"/>
          </a:xfrm>
          <a:prstGeom prst="rect">
            <a:avLst/>
          </a:prstGeom>
          <a:noFill/>
        </p:spPr>
        <p:txBody>
          <a:bodyPr wrap="square">
            <a:spAutoFit/>
          </a:bodyPr>
          <a:lstStyle/>
          <a:p>
            <a:pPr algn="l"/>
            <a:r>
              <a:rPr sz="1300" b="0">
                <a:solidFill>
                  <a:srgbClr val="B0BEC5"/>
                </a:solidFill>
                <a:latin typeface="Calibri"/>
              </a:rPr>
              <a:t>Custom proposal with recommended plan tier, integration plan, and projected ROI</a:t>
            </a:r>
          </a:p>
        </p:txBody>
      </p:sp>
      <p:sp>
        <p:nvSpPr>
          <p:cNvPr id="12" name="Oval 11"/>
          <p:cNvSpPr/>
          <p:nvPr/>
        </p:nvSpPr>
        <p:spPr>
          <a:xfrm>
            <a:off x="502920" y="4261104"/>
            <a:ext cx="201168" cy="201168"/>
          </a:xfrm>
          <a:prstGeom prst="ellipse">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4187952"/>
            <a:ext cx="2286000" cy="384048"/>
          </a:xfrm>
          <a:prstGeom prst="rect">
            <a:avLst/>
          </a:prstGeom>
          <a:noFill/>
        </p:spPr>
        <p:txBody>
          <a:bodyPr wrap="square">
            <a:spAutoFit/>
          </a:bodyPr>
          <a:lstStyle/>
          <a:p>
            <a:pPr algn="l"/>
            <a:r>
              <a:rPr sz="1400" b="1">
                <a:solidFill>
                  <a:srgbClr val="00C2FF"/>
                </a:solidFill>
                <a:latin typeface="Calibri"/>
              </a:rPr>
              <a:t>Week 1–2</a:t>
            </a:r>
          </a:p>
        </p:txBody>
      </p:sp>
      <p:sp>
        <p:nvSpPr>
          <p:cNvPr id="14" name="TextBox 13"/>
          <p:cNvSpPr txBox="1"/>
          <p:nvPr/>
        </p:nvSpPr>
        <p:spPr>
          <a:xfrm>
            <a:off x="841248" y="4572000"/>
            <a:ext cx="10515600" cy="347472"/>
          </a:xfrm>
          <a:prstGeom prst="rect">
            <a:avLst/>
          </a:prstGeom>
          <a:noFill/>
        </p:spPr>
        <p:txBody>
          <a:bodyPr wrap="square">
            <a:spAutoFit/>
          </a:bodyPr>
          <a:lstStyle/>
          <a:p>
            <a:pPr algn="l"/>
            <a:r>
              <a:rPr sz="1300" b="0">
                <a:solidFill>
                  <a:srgbClr val="B0BEC5"/>
                </a:solidFill>
                <a:latin typeface="Calibri"/>
              </a:rPr>
              <a:t>Technical onboarding — bank feed connection, ERP integration, matching rules configured</a:t>
            </a:r>
          </a:p>
        </p:txBody>
      </p:sp>
      <p:sp>
        <p:nvSpPr>
          <p:cNvPr id="15" name="Oval 14"/>
          <p:cNvSpPr/>
          <p:nvPr/>
        </p:nvSpPr>
        <p:spPr>
          <a:xfrm>
            <a:off x="502920" y="5038344"/>
            <a:ext cx="201168" cy="201168"/>
          </a:xfrm>
          <a:prstGeom prst="ellipse">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4965192"/>
            <a:ext cx="2286000" cy="384048"/>
          </a:xfrm>
          <a:prstGeom prst="rect">
            <a:avLst/>
          </a:prstGeom>
          <a:noFill/>
        </p:spPr>
        <p:txBody>
          <a:bodyPr wrap="square">
            <a:spAutoFit/>
          </a:bodyPr>
          <a:lstStyle/>
          <a:p>
            <a:pPr algn="l"/>
            <a:r>
              <a:rPr sz="1400" b="1">
                <a:solidFill>
                  <a:srgbClr val="00C2FF"/>
                </a:solidFill>
                <a:latin typeface="Calibri"/>
              </a:rPr>
              <a:t>Day 14</a:t>
            </a:r>
          </a:p>
        </p:txBody>
      </p:sp>
      <p:sp>
        <p:nvSpPr>
          <p:cNvPr id="17" name="TextBox 16"/>
          <p:cNvSpPr txBox="1"/>
          <p:nvPr/>
        </p:nvSpPr>
        <p:spPr>
          <a:xfrm>
            <a:off x="841248" y="5349240"/>
            <a:ext cx="10515600" cy="347472"/>
          </a:xfrm>
          <a:prstGeom prst="rect">
            <a:avLst/>
          </a:prstGeom>
          <a:noFill/>
        </p:spPr>
        <p:txBody>
          <a:bodyPr wrap="square">
            <a:spAutoFit/>
          </a:bodyPr>
          <a:lstStyle/>
          <a:p>
            <a:pPr algn="l"/>
            <a:r>
              <a:rPr sz="1300" b="0">
                <a:solidFill>
                  <a:srgbClr val="B0BEC5"/>
                </a:solidFill>
                <a:latin typeface="Calibri"/>
              </a:rPr>
              <a:t>Go live — your team receives their first automated cash application summary</a:t>
            </a:r>
          </a:p>
        </p:txBody>
      </p:sp>
      <p:sp>
        <p:nvSpPr>
          <p:cNvPr id="18" name="Oval 17"/>
          <p:cNvSpPr/>
          <p:nvPr/>
        </p:nvSpPr>
        <p:spPr>
          <a:xfrm>
            <a:off x="502920" y="5815583"/>
            <a:ext cx="201168" cy="201168"/>
          </a:xfrm>
          <a:prstGeom prst="ellipse">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5742431"/>
            <a:ext cx="2286000" cy="384048"/>
          </a:xfrm>
          <a:prstGeom prst="rect">
            <a:avLst/>
          </a:prstGeom>
          <a:noFill/>
        </p:spPr>
        <p:txBody>
          <a:bodyPr wrap="square">
            <a:spAutoFit/>
          </a:bodyPr>
          <a:lstStyle/>
          <a:p>
            <a:pPr algn="l"/>
            <a:r>
              <a:rPr sz="1400" b="1">
                <a:solidFill>
                  <a:srgbClr val="00C2FF"/>
                </a:solidFill>
                <a:latin typeface="Calibri"/>
              </a:rPr>
              <a:t>Day 60</a:t>
            </a:r>
          </a:p>
        </p:txBody>
      </p:sp>
      <p:sp>
        <p:nvSpPr>
          <p:cNvPr id="20" name="TextBox 19"/>
          <p:cNvSpPr txBox="1"/>
          <p:nvPr/>
        </p:nvSpPr>
        <p:spPr>
          <a:xfrm>
            <a:off x="841248" y="6126479"/>
            <a:ext cx="10515600" cy="347472"/>
          </a:xfrm>
          <a:prstGeom prst="rect">
            <a:avLst/>
          </a:prstGeom>
          <a:noFill/>
        </p:spPr>
        <p:txBody>
          <a:bodyPr wrap="square">
            <a:spAutoFit/>
          </a:bodyPr>
          <a:lstStyle/>
          <a:p>
            <a:pPr algn="l"/>
            <a:r>
              <a:rPr sz="1300" b="0">
                <a:solidFill>
                  <a:srgbClr val="B0BEC5"/>
                </a:solidFill>
                <a:latin typeface="Calibri"/>
              </a:rPr>
              <a:t>Satisfaction checkpoint — 80% reduction in manual time or you pay nothing</a:t>
            </a:r>
          </a:p>
        </p:txBody>
      </p:sp>
      <p:sp>
        <p:nvSpPr>
          <p:cNvPr id="21" name="Rectangle 20"/>
          <p:cNvSpPr/>
          <p:nvPr/>
        </p:nvSpPr>
        <p:spPr>
          <a:xfrm>
            <a:off x="6903720" y="2542032"/>
            <a:ext cx="4937760" cy="3703320"/>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6600" y="2697480"/>
            <a:ext cx="4572000" cy="457200"/>
          </a:xfrm>
          <a:prstGeom prst="rect">
            <a:avLst/>
          </a:prstGeom>
          <a:noFill/>
        </p:spPr>
        <p:txBody>
          <a:bodyPr wrap="square">
            <a:spAutoFit/>
          </a:bodyPr>
          <a:lstStyle/>
          <a:p>
            <a:pPr algn="l"/>
            <a:r>
              <a:rPr sz="1600" b="1">
                <a:solidFill>
                  <a:srgbClr val="FFFFFF"/>
                </a:solidFill>
                <a:latin typeface="Calibri"/>
              </a:rPr>
              <a:t>JONATHAN RODRIGUEZ</a:t>
            </a:r>
          </a:p>
        </p:txBody>
      </p:sp>
      <p:sp>
        <p:nvSpPr>
          <p:cNvPr id="23" name="TextBox 22"/>
          <p:cNvSpPr txBox="1"/>
          <p:nvPr/>
        </p:nvSpPr>
        <p:spPr>
          <a:xfrm>
            <a:off x="7086600" y="3154680"/>
            <a:ext cx="4572000" cy="411480"/>
          </a:xfrm>
          <a:prstGeom prst="rect">
            <a:avLst/>
          </a:prstGeom>
          <a:noFill/>
        </p:spPr>
        <p:txBody>
          <a:bodyPr wrap="square">
            <a:spAutoFit/>
          </a:bodyPr>
          <a:lstStyle/>
          <a:p>
            <a:pPr algn="l"/>
            <a:r>
              <a:rPr sz="1300" b="0">
                <a:solidFill>
                  <a:srgbClr val="B0BEC5"/>
                </a:solidFill>
                <a:latin typeface="Calibri"/>
              </a:rPr>
              <a:t>Founder &amp; CEO, LunarLogic</a:t>
            </a:r>
          </a:p>
        </p:txBody>
      </p:sp>
      <p:sp>
        <p:nvSpPr>
          <p:cNvPr id="24" name="Rectangle 23"/>
          <p:cNvSpPr/>
          <p:nvPr/>
        </p:nvSpPr>
        <p:spPr>
          <a:xfrm>
            <a:off x="7086600" y="3730752"/>
            <a:ext cx="4389120" cy="27432"/>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86600" y="3858768"/>
            <a:ext cx="4572000" cy="411480"/>
          </a:xfrm>
          <a:prstGeom prst="rect">
            <a:avLst/>
          </a:prstGeom>
          <a:noFill/>
        </p:spPr>
        <p:txBody>
          <a:bodyPr wrap="square">
            <a:spAutoFit/>
          </a:bodyPr>
          <a:lstStyle/>
          <a:p>
            <a:pPr algn="l"/>
            <a:r>
              <a:rPr sz="1400" b="0">
                <a:solidFill>
                  <a:srgbClr val="FFFFFF"/>
                </a:solidFill>
                <a:latin typeface="Calibri"/>
              </a:rPr>
              <a:t>✉  jrodriguez@lunarlogic.ai</a:t>
            </a:r>
          </a:p>
        </p:txBody>
      </p:sp>
      <p:sp>
        <p:nvSpPr>
          <p:cNvPr id="26" name="Rectangle 25"/>
          <p:cNvSpPr/>
          <p:nvPr/>
        </p:nvSpPr>
        <p:spPr>
          <a:xfrm>
            <a:off x="7086600" y="4462272"/>
            <a:ext cx="4389120" cy="27432"/>
          </a:xfrm>
          <a:prstGeom prst="rect">
            <a:avLst/>
          </a:prstGeom>
          <a:solidFill>
            <a:srgbClr val="122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86600" y="4572000"/>
            <a:ext cx="4572000" cy="411480"/>
          </a:xfrm>
          <a:prstGeom prst="rect">
            <a:avLst/>
          </a:prstGeom>
          <a:noFill/>
        </p:spPr>
        <p:txBody>
          <a:bodyPr wrap="square">
            <a:spAutoFit/>
          </a:bodyPr>
          <a:lstStyle/>
          <a:p>
            <a:pPr algn="l"/>
            <a:r>
              <a:rPr sz="1400" b="1">
                <a:solidFill>
                  <a:srgbClr val="00E696"/>
                </a:solidFill>
                <a:latin typeface="Calibri"/>
              </a:rPr>
              <a:t>60-Day Satisfaction Guarantee</a:t>
            </a:r>
          </a:p>
        </p:txBody>
      </p:sp>
      <p:sp>
        <p:nvSpPr>
          <p:cNvPr id="28" name="TextBox 27"/>
          <p:cNvSpPr txBox="1"/>
          <p:nvPr/>
        </p:nvSpPr>
        <p:spPr>
          <a:xfrm>
            <a:off x="7086600" y="4983480"/>
            <a:ext cx="4572000" cy="804672"/>
          </a:xfrm>
          <a:prstGeom prst="rect">
            <a:avLst/>
          </a:prstGeom>
          <a:noFill/>
        </p:spPr>
        <p:txBody>
          <a:bodyPr wrap="square">
            <a:spAutoFit/>
          </a:bodyPr>
          <a:lstStyle/>
          <a:p>
            <a:pPr algn="l"/>
            <a:r>
              <a:rPr sz="1300" b="0">
                <a:solidFill>
                  <a:srgbClr val="B0BEC5"/>
                </a:solidFill>
                <a:latin typeface="Calibri"/>
              </a:rPr>
              <a:t>If we don't reduce your cash application
time by 80%, you pay nothing.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