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875581" cy="6858000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4848149" y="0"/>
            <a:ext cx="27432" cy="6858000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5029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896112"/>
            <a:ext cx="386974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AUTOMATION PLATFORM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3686861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417320"/>
            <a:ext cx="386974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4360" y="1664208"/>
            <a:ext cx="3961181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Forvis Mazars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76272"/>
            <a:ext cx="396118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Sukits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496312"/>
            <a:ext cx="396118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Advisory  ·  Chicago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6291072"/>
            <a:ext cx="396118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11, 2026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195621" y="914400"/>
            <a:ext cx="6536131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the Cash Application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in Professional Services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5195621" y="2514600"/>
            <a:ext cx="653613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58-day DSO to 36 days — in under 90 days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195621" y="2944368"/>
            <a:ext cx="6536131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6" name="Shape 14"/>
          <p:cNvSpPr/>
          <p:nvPr/>
        </p:nvSpPr>
        <p:spPr>
          <a:xfrm>
            <a:off x="5195621" y="3127248"/>
            <a:ext cx="6536131" cy="1783080"/>
          </a:xfrm>
          <a:prstGeom prst="roundRect">
            <a:avLst>
              <a:gd name="adj" fmla="val 5128"/>
            </a:avLst>
          </a:prstGeom>
          <a:solidFill>
            <a:srgbClr val="152035"/>
          </a:solidFill>
          <a:ln w="11430">
            <a:solidFill>
              <a:srgbClr val="22C5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95621" y="3127248"/>
            <a:ext cx="6536131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8" name="Text 16"/>
          <p:cNvSpPr/>
          <p:nvPr/>
        </p:nvSpPr>
        <p:spPr>
          <a:xfrm>
            <a:off x="5451653" y="3273552"/>
            <a:ext cx="602406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PROOF POINT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451653" y="3529584"/>
            <a:ext cx="60240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"84% reduction in invoice processing time.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19-day DSO improvement in under 90 days."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51653" y="4370832"/>
            <a:ext cx="602406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Kaptain Clean LLC  ·  Anchor Client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03504"/>
            <a:ext cx="1218895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08792" y="164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60196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LunarLogic LLC  ·  Confidential  ·  jrodriguez@lunarlogic.ai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69264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application: your client's most manual, error-prone AR process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792224"/>
            <a:ext cx="1109167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975104"/>
            <a:ext cx="6211336" cy="877824"/>
          </a:xfrm>
          <a:prstGeom prst="roundRect">
            <a:avLst>
              <a:gd name="adj" fmla="val 8333"/>
            </a:avLst>
          </a:prstGeom>
          <a:solidFill>
            <a:srgbClr val="152035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975104"/>
            <a:ext cx="36576" cy="87782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2066544"/>
            <a:ext cx="580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$1.4M total AR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2377440"/>
            <a:ext cx="5809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open invoices across 8 customers — matched manually against bank statement line items every close cycle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2980944"/>
            <a:ext cx="6211336" cy="877824"/>
          </a:xfrm>
          <a:prstGeom prst="roundRect">
            <a:avLst>
              <a:gd name="adj" fmla="val 8333"/>
            </a:avLst>
          </a:prstGeom>
          <a:solidFill>
            <a:srgbClr val="152035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980944"/>
            <a:ext cx="36576" cy="87782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072384"/>
            <a:ext cx="580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day close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3383280"/>
            <a:ext cx="5809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spend the first week of each month reconciling deposits. One bulk payment from Vantage Healthcare takes a full day alone.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986784"/>
            <a:ext cx="6211336" cy="877824"/>
          </a:xfrm>
          <a:prstGeom prst="roundRect">
            <a:avLst>
              <a:gd name="adj" fmla="val 8333"/>
            </a:avLst>
          </a:prstGeom>
          <a:solidFill>
            <a:srgbClr val="152035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986784"/>
            <a:ext cx="36576" cy="87782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078224"/>
            <a:ext cx="580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&amp; partial payments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4389120"/>
            <a:ext cx="5809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 Healthcare sends a single $218k wire covering 11 invoices. Castlebrook remits $62k against a $74k balance. Who decides how to apply?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992624"/>
            <a:ext cx="6211336" cy="877824"/>
          </a:xfrm>
          <a:prstGeom prst="roundRect">
            <a:avLst>
              <a:gd name="adj" fmla="val 8333"/>
            </a:avLst>
          </a:prstGeom>
          <a:solidFill>
            <a:srgbClr val="152035"/>
          </a:solidFill>
          <a:ln w="6350">
            <a:solidFill>
              <a:srgbClr val="F973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992624"/>
            <a:ext cx="36576" cy="87782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5084064"/>
            <a:ext cx="580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58-day DSO baseline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49808" y="5394960"/>
            <a:ext cx="5809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is sitting in AR when it could be deployed. Every 10 days of DSO reduction releases ~$150k in working capital.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5998464"/>
            <a:ext cx="6211336" cy="877824"/>
          </a:xfrm>
          <a:prstGeom prst="roundRect">
            <a:avLst>
              <a:gd name="adj" fmla="val 8333"/>
            </a:avLst>
          </a:prstGeom>
          <a:solidFill>
            <a:srgbClr val="152035"/>
          </a:solidFill>
          <a:ln w="6350">
            <a:solidFill>
              <a:srgbClr val="8A94A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5998464"/>
            <a:ext cx="36576" cy="877824"/>
          </a:xfrm>
          <a:prstGeom prst="rect">
            <a:avLst/>
          </a:prstGeom>
          <a:solidFill>
            <a:srgbClr val="8A94A6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6089904"/>
            <a:ext cx="580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audit trail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49808" y="6400800"/>
            <a:ext cx="5809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was that Castlebrook bulk payment applied? Who decided? There is no log — just a note in a spreadsheet, if that.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080016" y="1975104"/>
            <a:ext cx="4560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WORKFLOW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080016" y="2304288"/>
            <a:ext cx="4560296" cy="548640"/>
          </a:xfrm>
          <a:prstGeom prst="roundRect">
            <a:avLst>
              <a:gd name="adj" fmla="val 11667"/>
            </a:avLst>
          </a:prstGeom>
          <a:solidFill>
            <a:srgbClr val="0F1C30"/>
          </a:solidFill>
          <a:ln w="5080">
            <a:solidFill>
              <a:srgbClr val="8A94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17176" y="2377440"/>
            <a:ext cx="292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582936" y="2423160"/>
            <a:ext cx="3901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bank statement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36048" y="2852928"/>
            <a:ext cx="18288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7" name="Shape 35"/>
          <p:cNvSpPr/>
          <p:nvPr/>
        </p:nvSpPr>
        <p:spPr>
          <a:xfrm>
            <a:off x="7080016" y="2962656"/>
            <a:ext cx="4560296" cy="548640"/>
          </a:xfrm>
          <a:prstGeom prst="roundRect">
            <a:avLst>
              <a:gd name="adj" fmla="val 11667"/>
            </a:avLst>
          </a:prstGeom>
          <a:solidFill>
            <a:srgbClr val="0F1C30"/>
          </a:solidFill>
          <a:ln w="5080">
            <a:solidFill>
              <a:srgbClr val="8A94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17176" y="3035808"/>
            <a:ext cx="292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7582936" y="3081528"/>
            <a:ext cx="3901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QB / ERP — pull invoice list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336048" y="3511296"/>
            <a:ext cx="18288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1" name="Shape 39"/>
          <p:cNvSpPr/>
          <p:nvPr/>
        </p:nvSpPr>
        <p:spPr>
          <a:xfrm>
            <a:off x="7080016" y="3621024"/>
            <a:ext cx="4560296" cy="548640"/>
          </a:xfrm>
          <a:prstGeom prst="roundRect">
            <a:avLst>
              <a:gd name="adj" fmla="val 11667"/>
            </a:avLst>
          </a:prstGeom>
          <a:solidFill>
            <a:srgbClr val="0F1C30"/>
          </a:solidFill>
          <a:ln w="508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17176" y="3694176"/>
            <a:ext cx="292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7582936" y="3739896"/>
            <a:ext cx="3901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deposits by hand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336048" y="4169664"/>
            <a:ext cx="18288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5" name="Shape 43"/>
          <p:cNvSpPr/>
          <p:nvPr/>
        </p:nvSpPr>
        <p:spPr>
          <a:xfrm>
            <a:off x="7080016" y="4279392"/>
            <a:ext cx="4560296" cy="548640"/>
          </a:xfrm>
          <a:prstGeom prst="roundRect">
            <a:avLst>
              <a:gd name="adj" fmla="val 11667"/>
            </a:avLst>
          </a:prstGeom>
          <a:solidFill>
            <a:srgbClr val="0F1C30"/>
          </a:solidFill>
          <a:ln w="5080">
            <a:solidFill>
              <a:srgbClr val="EF444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17176" y="4352544"/>
            <a:ext cx="292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7582936" y="4398264"/>
            <a:ext cx="3901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how to split bulk wires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336048" y="4828032"/>
            <a:ext cx="18288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9" name="Shape 47"/>
          <p:cNvSpPr/>
          <p:nvPr/>
        </p:nvSpPr>
        <p:spPr>
          <a:xfrm>
            <a:off x="7080016" y="4937760"/>
            <a:ext cx="4560296" cy="548640"/>
          </a:xfrm>
          <a:prstGeom prst="roundRect">
            <a:avLst>
              <a:gd name="adj" fmla="val 11667"/>
            </a:avLst>
          </a:prstGeom>
          <a:solidFill>
            <a:srgbClr val="0F1C30"/>
          </a:solidFill>
          <a:ln w="5080">
            <a:solidFill>
              <a:srgbClr val="8A94A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17176" y="5010912"/>
            <a:ext cx="292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7582936" y="5056632"/>
            <a:ext cx="3901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ledger — email client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336048" y="5486400"/>
            <a:ext cx="18288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3" name="Shape 51"/>
          <p:cNvSpPr/>
          <p:nvPr/>
        </p:nvSpPr>
        <p:spPr>
          <a:xfrm>
            <a:off x="7080016" y="5596128"/>
            <a:ext cx="4560296" cy="548640"/>
          </a:xfrm>
          <a:prstGeom prst="roundRect">
            <a:avLst>
              <a:gd name="adj" fmla="val 11667"/>
            </a:avLst>
          </a:prstGeom>
          <a:solidFill>
            <a:srgbClr val="0F1C30"/>
          </a:solidFill>
          <a:ln w="5080">
            <a:solidFill>
              <a:srgbClr val="EF444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17176" y="5669280"/>
            <a:ext cx="292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7582936" y="5715000"/>
            <a:ext cx="3901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for every missed match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080016" y="6327648"/>
            <a:ext cx="4560296" cy="713232"/>
          </a:xfrm>
          <a:prstGeom prst="roundRect">
            <a:avLst>
              <a:gd name="adj" fmla="val 10256"/>
            </a:avLst>
          </a:prstGeom>
          <a:solidFill>
            <a:srgbClr val="1A0A0A"/>
          </a:solidFill>
          <a:ln w="11430">
            <a:solidFill>
              <a:srgbClr val="EF444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44608" y="6419088"/>
            <a:ext cx="4231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$280k of receipts sitting unapplied for 3–5 business days every month. Every day of delay worsens DSO and cash flow visibility.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03504"/>
            <a:ext cx="1218895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08792" y="164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60196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LunarLogic LLC  ·  Confidential  ·  jrodriguez@lunarlogic.ai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69264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payment matching — ERP-connected, confidence-scored, fully audited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792224"/>
            <a:ext cx="1109167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975104"/>
            <a:ext cx="2635758" cy="1828800"/>
          </a:xfrm>
          <a:prstGeom prst="roundRect">
            <a:avLst>
              <a:gd name="adj" fmla="val 4500"/>
            </a:avLst>
          </a:prstGeom>
          <a:solidFill>
            <a:srgbClr val="152035"/>
          </a:solidFill>
          <a:ln w="7620">
            <a:solidFill>
              <a:srgbClr val="00D4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975104"/>
            <a:ext cx="2635758" cy="45720"/>
          </a:xfrm>
          <a:prstGeom prst="rect">
            <a:avLst/>
          </a:prstGeom>
          <a:solidFill>
            <a:srgbClr val="00D4E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139696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13232" y="2706624"/>
            <a:ext cx="230657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Feed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3236976"/>
            <a:ext cx="230657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Plaid webhook captures every incoming wire within seconds. No manual CSV download.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02686" y="2688336"/>
            <a:ext cx="146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367278" y="1975104"/>
            <a:ext cx="2635758" cy="1828800"/>
          </a:xfrm>
          <a:prstGeom prst="roundRect">
            <a:avLst>
              <a:gd name="adj" fmla="val 4500"/>
            </a:avLst>
          </a:prstGeom>
          <a:solidFill>
            <a:srgbClr val="152035"/>
          </a:solidFill>
          <a:ln w="7620">
            <a:solidFill>
              <a:srgbClr val="2D5B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7278" y="1975104"/>
            <a:ext cx="2635758" cy="45720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20" name="Text 18"/>
          <p:cNvSpPr/>
          <p:nvPr/>
        </p:nvSpPr>
        <p:spPr>
          <a:xfrm>
            <a:off x="3531870" y="2139696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531870" y="2706624"/>
            <a:ext cx="230657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Matching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31870" y="3236976"/>
            <a:ext cx="230657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Fuzzy-matches each deposit against open QB invoices by amount, date, and payment ref. Confidence-scored 0–100%.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021324" y="2688336"/>
            <a:ext cx="146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185916" y="1975104"/>
            <a:ext cx="2635758" cy="1828800"/>
          </a:xfrm>
          <a:prstGeom prst="roundRect">
            <a:avLst>
              <a:gd name="adj" fmla="val 4500"/>
            </a:avLst>
          </a:prstGeom>
          <a:solidFill>
            <a:srgbClr val="152035"/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85916" y="1975104"/>
            <a:ext cx="2635758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6350508" y="2139696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6350508" y="2706624"/>
            <a:ext cx="230657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Auto-Apply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Escalate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50508" y="3236976"/>
            <a:ext cx="230657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≥ 90%: posted automatically. Below threshold: Slack prompt with suggested match for 1-tap approval.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839962" y="2688336"/>
            <a:ext cx="146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9004554" y="1975104"/>
            <a:ext cx="2635758" cy="1828800"/>
          </a:xfrm>
          <a:prstGeom prst="roundRect">
            <a:avLst>
              <a:gd name="adj" fmla="val 4500"/>
            </a:avLst>
          </a:prstGeom>
          <a:solidFill>
            <a:srgbClr val="152035"/>
          </a:solidFill>
          <a:ln w="7620">
            <a:solidFill>
              <a:srgbClr val="22C5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004554" y="1975104"/>
            <a:ext cx="2635758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2" name="Text 30"/>
          <p:cNvSpPr/>
          <p:nvPr/>
        </p:nvSpPr>
        <p:spPr>
          <a:xfrm>
            <a:off x="9169146" y="2139696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33" name="Text 31"/>
          <p:cNvSpPr/>
          <p:nvPr/>
        </p:nvSpPr>
        <p:spPr>
          <a:xfrm>
            <a:off x="9169146" y="2706624"/>
            <a:ext cx="230657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Dashboard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169146" y="3236976"/>
            <a:ext cx="230657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logged: rule applied, confidence score, who approved. Live AR dashboard updates in real time.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059936"/>
            <a:ext cx="2670048" cy="2359152"/>
          </a:xfrm>
          <a:prstGeom prst="roundRect">
            <a:avLst>
              <a:gd name="adj" fmla="val 3488"/>
            </a:avLst>
          </a:prstGeom>
          <a:solidFill>
            <a:srgbClr val="152035"/>
          </a:solidFill>
          <a:ln w="7620">
            <a:solidFill>
              <a:srgbClr val="22C5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4187952"/>
            <a:ext cx="2340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AUTO-MATCH RATE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713232" y="4407408"/>
            <a:ext cx="23408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713232" y="6071616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of 15 payments applied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355848" y="4059936"/>
            <a:ext cx="2670048" cy="2359152"/>
          </a:xfrm>
          <a:prstGeom prst="roundRect">
            <a:avLst>
              <a:gd name="adj" fmla="val 3488"/>
            </a:avLst>
          </a:prstGeom>
          <a:solidFill>
            <a:srgbClr val="152035"/>
          </a:solidFill>
          <a:ln w="7620">
            <a:solidFill>
              <a:srgbClr val="00D4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520440" y="4187952"/>
            <a:ext cx="2340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APPLICATION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3520440" y="4407408"/>
            <a:ext cx="23408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8 min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3520440" y="6071616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to ledger posting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163056" y="4059936"/>
            <a:ext cx="2670048" cy="2359152"/>
          </a:xfrm>
          <a:prstGeom prst="roundRect">
            <a:avLst>
              <a:gd name="adj" fmla="val 3488"/>
            </a:avLst>
          </a:prstGeom>
          <a:solidFill>
            <a:srgbClr val="152035"/>
          </a:solidFill>
          <a:ln w="7620">
            <a:solidFill>
              <a:srgbClr val="22C5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27648" y="4187952"/>
            <a:ext cx="2340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DSO REDUCTION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327648" y="4407408"/>
            <a:ext cx="23408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−22d</a:t>
            </a:r>
            <a:endParaRPr lang="en-US" sz="3000" dirty="0"/>
          </a:p>
        </p:txBody>
      </p:sp>
      <p:sp>
        <p:nvSpPr>
          <p:cNvPr id="46" name="Text 44"/>
          <p:cNvSpPr/>
          <p:nvPr/>
        </p:nvSpPr>
        <p:spPr>
          <a:xfrm>
            <a:off x="6327648" y="6071616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58d → 36d since go-live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970264" y="4059936"/>
            <a:ext cx="2670048" cy="2359152"/>
          </a:xfrm>
          <a:prstGeom prst="roundRect">
            <a:avLst>
              <a:gd name="adj" fmla="val 3488"/>
            </a:avLst>
          </a:prstGeom>
          <a:solidFill>
            <a:srgbClr val="152035"/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34856" y="4187952"/>
            <a:ext cx="2340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REVIEW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9134856" y="4407408"/>
            <a:ext cx="23408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50" name="Text 48"/>
          <p:cNvSpPr/>
          <p:nvPr/>
        </p:nvSpPr>
        <p:spPr>
          <a:xfrm>
            <a:off x="9134856" y="6071616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$280k awaiting 1-tap confirm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03504"/>
            <a:ext cx="1218895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08792" y="164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60196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LunarLogic LLC  ·  Confidential  ·  jrodriguez@lunarlogic.ai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69264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views built specifically for Forvis Mazars — live with your data today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792224"/>
            <a:ext cx="1109167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975104"/>
            <a:ext cx="5340096" cy="2199132"/>
          </a:xfrm>
          <a:prstGeom prst="roundRect">
            <a:avLst>
              <a:gd name="adj" fmla="val 3742"/>
            </a:avLst>
          </a:prstGeom>
          <a:solidFill>
            <a:srgbClr val="152035"/>
          </a:solidFill>
          <a:ln w="7620">
            <a:solidFill>
              <a:srgbClr val="00D4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975104"/>
            <a:ext cx="5340096" cy="45720"/>
          </a:xfrm>
          <a:prstGeom prst="rect">
            <a:avLst/>
          </a:prstGeom>
          <a:solidFill>
            <a:srgbClr val="00D4E8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112264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TAB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31520" y="2313432"/>
            <a:ext cx="4974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DSO Trend + Stat Strip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2670048"/>
            <a:ext cx="4974336" cy="781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90-day DSO chart with go-live annotation — the moment LunarLogic went live, the line bends down. Left stat strip shows Current DSO (36d), Pre-LunarLogic baseline (58d), 22-day improvement, period high/low.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31520" y="3332988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Current DSO: 36d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3570732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Improvement: ▼22d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3808476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Period low: 32d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5896" y="1975104"/>
            <a:ext cx="5340096" cy="2199132"/>
          </a:xfrm>
          <a:prstGeom prst="roundRect">
            <a:avLst>
              <a:gd name="adj" fmla="val 3742"/>
            </a:avLst>
          </a:prstGeom>
          <a:solidFill>
            <a:srgbClr val="152035"/>
          </a:solidFill>
          <a:ln w="7620">
            <a:solidFill>
              <a:srgbClr val="22C5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25896" y="1975104"/>
            <a:ext cx="5340096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2" name="Text 20"/>
          <p:cNvSpPr/>
          <p:nvPr/>
        </p:nvSpPr>
        <p:spPr>
          <a:xfrm>
            <a:off x="6208776" y="2112264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TAB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208776" y="2313432"/>
            <a:ext cx="4974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Aging by Customer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08776" y="2670048"/>
            <a:ext cx="4974336" cy="781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Waterfall chart (Current → 1-30 → 31-60 → 61-90 → 90+d) with a sortable customer table showing risk rating, avg days to pay, and each aging bucket per customer. Click any bar or row to drill to source invoices.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08776" y="3332988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Vantage: $318k · High risk · 64d avg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08776" y="3570732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Castlebrook: $205k · High risk · 59d avg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08776" y="3808476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Total AR: $1.4M · Click-to-export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4311396"/>
            <a:ext cx="5340096" cy="2199132"/>
          </a:xfrm>
          <a:prstGeom prst="roundRect">
            <a:avLst>
              <a:gd name="adj" fmla="val 3742"/>
            </a:avLst>
          </a:prstGeom>
          <a:solidFill>
            <a:srgbClr val="152035"/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311396"/>
            <a:ext cx="5340096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448556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APPLICATION TAB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31520" y="4649724"/>
            <a:ext cx="4974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Application Queue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31520" y="5006340"/>
            <a:ext cx="4974336" cy="781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incoming payment card-matched to its customer. Confidence score, auto-applied flag, and 1-tap Slack confirm for review items. Click any row to open the Payment Drawer with customer running balance — before and after application.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31520" y="5669280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FM-T-0919 Vantage $218k → 1-tap review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1520" y="5907024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FM-T-0916 Castlebrook $62k → 1-tap review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520" y="6144768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Running balance: Before $318k → After $100k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25896" y="4311396"/>
            <a:ext cx="5340096" cy="2199132"/>
          </a:xfrm>
          <a:prstGeom prst="roundRect">
            <a:avLst>
              <a:gd name="adj" fmla="val 3742"/>
            </a:avLst>
          </a:prstGeom>
          <a:solidFill>
            <a:srgbClr val="152035"/>
          </a:solidFill>
          <a:ln w="7620">
            <a:solidFill>
              <a:srgbClr val="2D5B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25896" y="4311396"/>
            <a:ext cx="5340096" cy="45720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38" name="Text 36"/>
          <p:cNvSpPr/>
          <p:nvPr/>
        </p:nvSpPr>
        <p:spPr>
          <a:xfrm>
            <a:off x="6208776" y="4448556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APPLICATION TAB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208776" y="4649724"/>
            <a:ext cx="4974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Forecast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08776" y="5006340"/>
            <a:ext cx="4974336" cy="781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stacked bar chart of expected receipts, color-coded by collection risk. Expected date = invoice due date adjusted for each customer's historical avg days-to-pay. Horizon toggle: 30 / 60 / 90 days.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208776" y="5669280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Next 30d: $412k expected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208776" y="5907024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At-risk balance: $523k (high + overdue)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208776" y="6144768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Click any week → underlying invoices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03504"/>
            <a:ext cx="1218895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08792" y="164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60196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LunarLogic LLC  ·  Confidential  ·  jrodriguez@lunarlogic.ai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69264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Drawer Deep-Dive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running balance — before and after every payment application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792224"/>
            <a:ext cx="1109167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75104"/>
            <a:ext cx="4880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CASTLEBROOK REAL ESTATE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2267712"/>
            <a:ext cx="4880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Castlebrook wires $62,000 against an open balance of $74,200 — a partial payment.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2770632"/>
            <a:ext cx="4880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Staff must decide: apply to oldest invoice first? Largest? Split evenly?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3273552"/>
            <a:ext cx="4880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LunarLogic's default rule: oldest invoice first (ASC 310 aging priority).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776472"/>
            <a:ext cx="4880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The Payment Drawer shows the exact before/after for every open invoice — so the decision is transparent, documented, and defensible.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370832"/>
            <a:ext cx="4880336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4498848"/>
            <a:ext cx="4880336" cy="914400"/>
          </a:xfrm>
          <a:prstGeom prst="roundRect">
            <a:avLst>
              <a:gd name="adj" fmla="val 8000"/>
            </a:avLst>
          </a:prstGeom>
          <a:solidFill>
            <a:srgbClr val="0F1E12"/>
          </a:solidFill>
          <a:ln w="889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608576"/>
            <a:ext cx="4551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13232" y="4846320"/>
            <a:ext cx="45511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partial payment decision is timestamped, attributed, and exportable for SOC 2 / internal controls review. No more "it was in the notes" answers during an audit.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94736" y="1975104"/>
            <a:ext cx="5845576" cy="4443984"/>
          </a:xfrm>
          <a:prstGeom prst="roundRect">
            <a:avLst>
              <a:gd name="adj" fmla="val 2469"/>
            </a:avLst>
          </a:prstGeom>
          <a:solidFill>
            <a:srgbClr val="0F1C30"/>
          </a:solidFill>
          <a:ln w="889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95904" y="2157984"/>
            <a:ext cx="544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Detail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995904" y="2450592"/>
            <a:ext cx="544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FM-T-0916  ·  Castlebrook Real Estate  ·  May 14, 2026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95904" y="2706624"/>
            <a:ext cx="5443240" cy="1371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" name="Shape 23"/>
          <p:cNvSpPr/>
          <p:nvPr/>
        </p:nvSpPr>
        <p:spPr>
          <a:xfrm>
            <a:off x="5995904" y="2834640"/>
            <a:ext cx="5443240" cy="411480"/>
          </a:xfrm>
          <a:prstGeom prst="roundRect">
            <a:avLst>
              <a:gd name="adj" fmla="val 15556"/>
            </a:avLst>
          </a:prstGeom>
          <a:solidFill>
            <a:srgbClr val="1A2A10"/>
          </a:solidFill>
          <a:ln w="6350">
            <a:solidFill>
              <a:srgbClr val="22C5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14776" y="2926080"/>
            <a:ext cx="52054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94% confidence  ·  rule: customer name + amount range  ·  Auto-applied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95904" y="3383280"/>
            <a:ext cx="544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OUTSTANDING BALANCE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995904" y="3584448"/>
            <a:ext cx="544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of May 14, 2026  ·  before this payment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95904" y="3858768"/>
            <a:ext cx="2666756" cy="731520"/>
          </a:xfrm>
          <a:prstGeom prst="roundRect">
            <a:avLst>
              <a:gd name="adj" fmla="val 8750"/>
            </a:avLst>
          </a:prstGeom>
          <a:solidFill>
            <a:srgbClr val="152035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05632" y="3950208"/>
            <a:ext cx="24473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105632" y="4151376"/>
            <a:ext cx="24473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$74,200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8772388" y="3858768"/>
            <a:ext cx="2666756" cy="731520"/>
          </a:xfrm>
          <a:prstGeom prst="roundRect">
            <a:avLst>
              <a:gd name="adj" fmla="val 8750"/>
            </a:avLst>
          </a:prstGeom>
          <a:solidFill>
            <a:srgbClr val="152035"/>
          </a:solidFill>
          <a:ln w="6350">
            <a:solidFill>
              <a:srgbClr val="22C5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82116" y="3950208"/>
            <a:ext cx="24473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8882116" y="4151376"/>
            <a:ext cx="24473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$12,200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995904" y="4754880"/>
            <a:ext cx="544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invoices applied (oldest first):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50768" y="4992624"/>
            <a:ext cx="5333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FM-2609  $28,400  ·  due Apr 2  ·  42d overdue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050768" y="5230368"/>
            <a:ext cx="5333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FM-2621  $21,200  ·  due Apr 18  ·  26d overdue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050768" y="5468112"/>
            <a:ext cx="5333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FM-2634  $12,400  ·  due May 5  ·  9d overdue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03504"/>
            <a:ext cx="1218895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08792" y="164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60196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LunarLogic LLC  ·  Confidential  ·  jrodriguez@lunarlogic.ai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69264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Problem Is Solved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becomes possible when AR runs itself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792224"/>
            <a:ext cx="1109167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975104"/>
            <a:ext cx="2670048" cy="4443984"/>
          </a:xfrm>
          <a:prstGeom prst="roundRect">
            <a:avLst>
              <a:gd name="adj" fmla="val 3082"/>
            </a:avLst>
          </a:prstGeom>
          <a:solidFill>
            <a:srgbClr val="152035"/>
          </a:solidFill>
          <a:ln w="7620">
            <a:solidFill>
              <a:srgbClr val="00D4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975104"/>
            <a:ext cx="2670048" cy="45720"/>
          </a:xfrm>
          <a:prstGeom prst="rect">
            <a:avLst/>
          </a:prstGeom>
          <a:solidFill>
            <a:srgbClr val="00D4E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157984"/>
            <a:ext cx="2340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REALLOCATION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13232" y="2395728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hrs/yr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13232" y="30906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from manual AR tasks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3232" y="3383280"/>
            <a:ext cx="2340864" cy="13716"/>
          </a:xfrm>
          <a:prstGeom prst="rect">
            <a:avLst/>
          </a:prstGeom>
          <a:solidFill>
            <a:srgbClr val="00D4E8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529584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Collections team → client advisory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13232" y="3913632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Month-end close 3–5 days → same day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13232" y="4297680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CFO time → growth, not reconciliation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3232" y="4681728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 aging review meeting: eliminated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55848" y="1975104"/>
            <a:ext cx="2670048" cy="4443984"/>
          </a:xfrm>
          <a:prstGeom prst="roundRect">
            <a:avLst>
              <a:gd name="adj" fmla="val 3082"/>
            </a:avLst>
          </a:prstGeom>
          <a:solidFill>
            <a:srgbClr val="152035"/>
          </a:solidFill>
          <a:ln w="7620">
            <a:solidFill>
              <a:srgbClr val="22C5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55848" y="1975104"/>
            <a:ext cx="2670048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4" name="Text 22"/>
          <p:cNvSpPr/>
          <p:nvPr/>
        </p:nvSpPr>
        <p:spPr>
          <a:xfrm>
            <a:off x="3520440" y="2157984"/>
            <a:ext cx="2340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 RELEASE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520440" y="2395728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$150k+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3520440" y="30906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per 10-day DSO reduction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520440" y="3383280"/>
            <a:ext cx="2340864" cy="1371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8" name="Text 26"/>
          <p:cNvSpPr/>
          <p:nvPr/>
        </p:nvSpPr>
        <p:spPr>
          <a:xfrm>
            <a:off x="3520440" y="3529584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Deploy cash 3 weeks earlier each cycle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520440" y="3913632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Reduce credit line draw-downs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520440" y="4297680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Improve quarterly cash flow projections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520440" y="4681728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forecast: 30/60/90d expected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163056" y="1975104"/>
            <a:ext cx="2670048" cy="4443984"/>
          </a:xfrm>
          <a:prstGeom prst="roundRect">
            <a:avLst>
              <a:gd name="adj" fmla="val 3082"/>
            </a:avLst>
          </a:prstGeom>
          <a:solidFill>
            <a:srgbClr val="152035"/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63056" y="1975104"/>
            <a:ext cx="2670048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4" name="Text 32"/>
          <p:cNvSpPr/>
          <p:nvPr/>
        </p:nvSpPr>
        <p:spPr>
          <a:xfrm>
            <a:off x="6327648" y="2157984"/>
            <a:ext cx="2340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INTELLIGENCE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327648" y="2395728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GAAP-ready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6327648" y="30906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 310 / ASC 606 reporting built in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327648" y="3383280"/>
            <a:ext cx="2340864" cy="137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6327648" y="3529584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ADA reserve rates by aging bucket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27648" y="3913632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Export-ready for audit package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327648" y="4297680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SOC 2 audit trail of every posting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327648" y="4681728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Monthly impact report auto-generated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970264" y="1975104"/>
            <a:ext cx="2670048" cy="4443984"/>
          </a:xfrm>
          <a:prstGeom prst="roundRect">
            <a:avLst>
              <a:gd name="adj" fmla="val 3082"/>
            </a:avLst>
          </a:prstGeom>
          <a:solidFill>
            <a:srgbClr val="152035"/>
          </a:solidFill>
          <a:ln w="7620">
            <a:solidFill>
              <a:srgbClr val="2D5B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70264" y="1975104"/>
            <a:ext cx="2670048" cy="45720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44" name="Text 42"/>
          <p:cNvSpPr/>
          <p:nvPr/>
        </p:nvSpPr>
        <p:spPr>
          <a:xfrm>
            <a:off x="9134856" y="2157984"/>
            <a:ext cx="2340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RELATIONSHIPS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9134856" y="2395728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</a:t>
            </a:r>
            <a:endParaRPr lang="en-US" sz="2800" dirty="0"/>
          </a:p>
        </p:txBody>
      </p:sp>
      <p:sp>
        <p:nvSpPr>
          <p:cNvPr id="46" name="Text 44"/>
          <p:cNvSpPr/>
          <p:nvPr/>
        </p:nvSpPr>
        <p:spPr>
          <a:xfrm>
            <a:off x="9134856" y="30906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replaces reactive chasing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134856" y="3383280"/>
            <a:ext cx="2340864" cy="13716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48" name="Text 46"/>
          <p:cNvSpPr/>
          <p:nvPr/>
        </p:nvSpPr>
        <p:spPr>
          <a:xfrm>
            <a:off x="9134856" y="3529584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Escalating email reminders via Outlook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9134856" y="3913632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VIP exemption list for key accounts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9134856" y="4297680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Slack daily AR digest for leadership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134856" y="4681728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90+ exposure surfaced before write-off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03504"/>
            <a:ext cx="1218895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08792" y="164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60196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LunarLogic LLC  ·  Confidential  ·  jrodriguez@lunarlogic.ai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69264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14447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this meeting to your first deployed client — in under 30 days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792224"/>
            <a:ext cx="1109167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975104"/>
            <a:ext cx="11091672" cy="1001268"/>
          </a:xfrm>
          <a:prstGeom prst="roundRect">
            <a:avLst>
              <a:gd name="adj" fmla="val 9132"/>
            </a:avLst>
          </a:prstGeom>
          <a:solidFill>
            <a:srgbClr val="152035"/>
          </a:solidFill>
          <a:ln w="7620">
            <a:solidFill>
              <a:srgbClr val="00D4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975104"/>
            <a:ext cx="45720" cy="1001268"/>
          </a:xfrm>
          <a:prstGeom prst="rect">
            <a:avLst/>
          </a:prstGeom>
          <a:solidFill>
            <a:srgbClr val="00D4E8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132838"/>
            <a:ext cx="6583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508760" y="2066544"/>
            <a:ext cx="42148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 Pilot Client (Week 1)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508760" y="2359152"/>
            <a:ext cx="4214835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professional services client where AR pain is highest — 8–20 staff, ERP already live. QuickBooks Online or NetSuite. No changes to their ERP or accounting workflows. We do a 2-week shadow run first.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759976" y="2103120"/>
            <a:ext cx="4214835" cy="274320"/>
          </a:xfrm>
          <a:prstGeom prst="roundRect">
            <a:avLst>
              <a:gd name="adj" fmla="val 20000"/>
            </a:avLst>
          </a:prstGeom>
          <a:solidFill>
            <a:srgbClr val="0F1C30"/>
          </a:solidFill>
          <a:ln w="3810">
            <a:solidFill>
              <a:srgbClr val="00D4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69704" y="2139696"/>
            <a:ext cx="399537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ERP changes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59976" y="2450592"/>
            <a:ext cx="4214835" cy="274320"/>
          </a:xfrm>
          <a:prstGeom prst="roundRect">
            <a:avLst>
              <a:gd name="adj" fmla="val 20000"/>
            </a:avLst>
          </a:prstGeom>
          <a:solidFill>
            <a:srgbClr val="0F1C30"/>
          </a:solidFill>
          <a:ln w="3810">
            <a:solidFill>
              <a:srgbClr val="00D4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9704" y="2487168"/>
            <a:ext cx="399537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Read-only API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759976" y="2798064"/>
            <a:ext cx="4214835" cy="274320"/>
          </a:xfrm>
          <a:prstGeom prst="roundRect">
            <a:avLst>
              <a:gd name="adj" fmla="val 20000"/>
            </a:avLst>
          </a:prstGeom>
          <a:solidFill>
            <a:srgbClr val="0F1C30"/>
          </a:solidFill>
          <a:ln w="3810">
            <a:solidFill>
              <a:srgbClr val="00D4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9704" y="2834640"/>
            <a:ext cx="399537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2-week parallel baseline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3086100"/>
            <a:ext cx="11091672" cy="1001268"/>
          </a:xfrm>
          <a:prstGeom prst="roundRect">
            <a:avLst>
              <a:gd name="adj" fmla="val 9132"/>
            </a:avLst>
          </a:prstGeom>
          <a:solidFill>
            <a:srgbClr val="152035"/>
          </a:solidFill>
          <a:ln w="7620">
            <a:solidFill>
              <a:srgbClr val="2D5B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086100"/>
            <a:ext cx="45720" cy="100126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243834"/>
            <a:ext cx="6583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1508760" y="3177540"/>
            <a:ext cx="42148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Measurement (Weeks 1–2)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508760" y="3470148"/>
            <a:ext cx="4214835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connection established. LunarLogic runs in observation mode — tracks DSO, aging buckets, and cash application speed without touching any data. Baseline locked for ROI measurement.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759976" y="3214116"/>
            <a:ext cx="4214835" cy="274320"/>
          </a:xfrm>
          <a:prstGeom prst="roundRect">
            <a:avLst>
              <a:gd name="adj" fmla="val 20000"/>
            </a:avLst>
          </a:prstGeom>
          <a:solidFill>
            <a:srgbClr val="0F1C30"/>
          </a:solidFill>
          <a:ln w="3810">
            <a:solidFill>
              <a:srgbClr val="2D5B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69704" y="3250692"/>
            <a:ext cx="399537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DSO measured daily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759976" y="3561588"/>
            <a:ext cx="4214835" cy="274320"/>
          </a:xfrm>
          <a:prstGeom prst="roundRect">
            <a:avLst>
              <a:gd name="adj" fmla="val 20000"/>
            </a:avLst>
          </a:prstGeom>
          <a:solidFill>
            <a:srgbClr val="0F1C30"/>
          </a:solidFill>
          <a:ln w="3810">
            <a:solidFill>
              <a:srgbClr val="2D5B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69704" y="3598164"/>
            <a:ext cx="399537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Aging buckets logged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759976" y="3909060"/>
            <a:ext cx="4214835" cy="274320"/>
          </a:xfrm>
          <a:prstGeom prst="roundRect">
            <a:avLst>
              <a:gd name="adj" fmla="val 20000"/>
            </a:avLst>
          </a:prstGeom>
          <a:solidFill>
            <a:srgbClr val="0F1C30"/>
          </a:solidFill>
          <a:ln w="3810">
            <a:solidFill>
              <a:srgbClr val="2D5B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69704" y="3945636"/>
            <a:ext cx="399537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Cash match rate benchmarked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4197096"/>
            <a:ext cx="11091672" cy="1001268"/>
          </a:xfrm>
          <a:prstGeom prst="roundRect">
            <a:avLst>
              <a:gd name="adj" fmla="val 9132"/>
            </a:avLst>
          </a:prstGeom>
          <a:solidFill>
            <a:srgbClr val="152035"/>
          </a:solidFill>
          <a:ln w="7620">
            <a:solidFill>
              <a:srgbClr val="22C55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4197096"/>
            <a:ext cx="45720" cy="100126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354830"/>
            <a:ext cx="6583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800" dirty="0"/>
          </a:p>
        </p:txBody>
      </p:sp>
      <p:sp>
        <p:nvSpPr>
          <p:cNvPr id="37" name="Text 35"/>
          <p:cNvSpPr/>
          <p:nvPr/>
        </p:nvSpPr>
        <p:spPr>
          <a:xfrm>
            <a:off x="1508760" y="4288536"/>
            <a:ext cx="42148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 — 30-Day Proof (Weeks 3–6)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508760" y="4581144"/>
            <a:ext cx="4214835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activates. Daily AR summaries post to Slack. Payment reminders go out on schedule. Cash application matches at 87%+. Monthly impact report delivered. The DSO trend line bends down.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9976" y="4325112"/>
            <a:ext cx="4214835" cy="274320"/>
          </a:xfrm>
          <a:prstGeom prst="roundRect">
            <a:avLst>
              <a:gd name="adj" fmla="val 20000"/>
            </a:avLst>
          </a:prstGeom>
          <a:solidFill>
            <a:srgbClr val="0F1C30"/>
          </a:solidFill>
          <a:ln w="3810">
            <a:solidFill>
              <a:srgbClr val="22C5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69704" y="4361688"/>
            <a:ext cx="399537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Daily Slack digest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759976" y="4672584"/>
            <a:ext cx="4214835" cy="274320"/>
          </a:xfrm>
          <a:prstGeom prst="roundRect">
            <a:avLst>
              <a:gd name="adj" fmla="val 20000"/>
            </a:avLst>
          </a:prstGeom>
          <a:solidFill>
            <a:srgbClr val="0F1C30"/>
          </a:solidFill>
          <a:ln w="3810">
            <a:solidFill>
              <a:srgbClr val="22C55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69704" y="4709160"/>
            <a:ext cx="399537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87%+ auto-match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759976" y="5020056"/>
            <a:ext cx="4214835" cy="274320"/>
          </a:xfrm>
          <a:prstGeom prst="roundRect">
            <a:avLst>
              <a:gd name="adj" fmla="val 20000"/>
            </a:avLst>
          </a:prstGeom>
          <a:solidFill>
            <a:srgbClr val="0F1C30"/>
          </a:solidFill>
          <a:ln w="3810">
            <a:solidFill>
              <a:srgbClr val="22C5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69704" y="5056632"/>
            <a:ext cx="399537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impact report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8640" y="5308092"/>
            <a:ext cx="11091672" cy="1001268"/>
          </a:xfrm>
          <a:prstGeom prst="roundRect">
            <a:avLst>
              <a:gd name="adj" fmla="val 9132"/>
            </a:avLst>
          </a:prstGeom>
          <a:solidFill>
            <a:srgbClr val="152035"/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8640" y="5308092"/>
            <a:ext cx="45720" cy="10012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7" name="Text 45"/>
          <p:cNvSpPr/>
          <p:nvPr/>
        </p:nvSpPr>
        <p:spPr>
          <a:xfrm>
            <a:off x="731520" y="5465826"/>
            <a:ext cx="6583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800" dirty="0"/>
          </a:p>
        </p:txBody>
      </p:sp>
      <p:sp>
        <p:nvSpPr>
          <p:cNvPr id="48" name="Text 46"/>
          <p:cNvSpPr/>
          <p:nvPr/>
        </p:nvSpPr>
        <p:spPr>
          <a:xfrm>
            <a:off x="1508760" y="5399532"/>
            <a:ext cx="42148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Across Portfolio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1508760" y="5692140"/>
            <a:ext cx="4214835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documented 19–22 day DSO improvement and 200+ hrs/yr freed for the pilot client, you have an offer you can present to every client with an AR problem. White-label or referral paths available.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759976" y="5436108"/>
            <a:ext cx="4214835" cy="274320"/>
          </a:xfrm>
          <a:prstGeom prst="roundRect">
            <a:avLst>
              <a:gd name="adj" fmla="val 20000"/>
            </a:avLst>
          </a:prstGeom>
          <a:solidFill>
            <a:srgbClr val="0F1C30"/>
          </a:solidFill>
          <a:ln w="3810">
            <a:solidFill>
              <a:srgbClr val="F59E0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69704" y="5472684"/>
            <a:ext cx="399537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20% recurring referral fee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759976" y="5783580"/>
            <a:ext cx="4214835" cy="274320"/>
          </a:xfrm>
          <a:prstGeom prst="roundRect">
            <a:avLst>
              <a:gd name="adj" fmla="val 20000"/>
            </a:avLst>
          </a:prstGeom>
          <a:solidFill>
            <a:srgbClr val="0F1C30"/>
          </a:solidFill>
          <a:ln w="3810">
            <a:solidFill>
              <a:srgbClr val="F59E0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69704" y="5820156"/>
            <a:ext cx="399537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60-day satisfaction guarantee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759976" y="6131052"/>
            <a:ext cx="4214835" cy="274320"/>
          </a:xfrm>
          <a:prstGeom prst="roundRect">
            <a:avLst>
              <a:gd name="adj" fmla="val 20000"/>
            </a:avLst>
          </a:prstGeom>
          <a:solidFill>
            <a:srgbClr val="0F1C30"/>
          </a:solidFill>
          <a:ln w="3810">
            <a:solidFill>
              <a:srgbClr val="F59E0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69704" y="6167628"/>
            <a:ext cx="399537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$2,500 impl. fee waived on annual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52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601968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LunarLogic LLC  ·  Confidential  ·  jrodriguez@lunarlogic.ai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6" name="Text 4"/>
          <p:cNvSpPr/>
          <p:nvPr/>
        </p:nvSpPr>
        <p:spPr>
          <a:xfrm>
            <a:off x="5088636" y="594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1371600"/>
            <a:ext cx="10360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earn your business every month through results.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2121408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satisfaction guarantee · Cancel any month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86000" y="2578608"/>
            <a:ext cx="7616952" cy="18288"/>
          </a:xfrm>
          <a:prstGeom prst="rect">
            <a:avLst/>
          </a:prstGeom>
          <a:solidFill>
            <a:srgbClr val="2D5BE3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34640"/>
            <a:ext cx="10360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Jonathan Rodriguez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3273552"/>
            <a:ext cx="10360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  ·  LunarLogic LLC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621024"/>
            <a:ext cx="10360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jrodriguez@lunarlogic.ai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86000" y="4023360"/>
            <a:ext cx="7616952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4297680"/>
            <a:ext cx="3575304" cy="1627632"/>
          </a:xfrm>
          <a:prstGeom prst="roundRect">
            <a:avLst>
              <a:gd name="adj" fmla="val 5056"/>
            </a:avLst>
          </a:prstGeom>
          <a:solidFill>
            <a:srgbClr val="152035"/>
          </a:solidFill>
          <a:ln w="7620">
            <a:solidFill>
              <a:srgbClr val="00D4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498848"/>
            <a:ext cx="3209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−22d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31520" y="5193792"/>
            <a:ext cx="32095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DSO improvement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5504688"/>
            <a:ext cx="32095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Forvis Mazars pilot data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06824" y="4297680"/>
            <a:ext cx="3575304" cy="1627632"/>
          </a:xfrm>
          <a:prstGeom prst="roundRect">
            <a:avLst>
              <a:gd name="adj" fmla="val 5056"/>
            </a:avLst>
          </a:prstGeom>
          <a:solidFill>
            <a:srgbClr val="152035"/>
          </a:solidFill>
          <a:ln w="762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9704" y="4498848"/>
            <a:ext cx="3209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4489704" y="5193792"/>
            <a:ext cx="32095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auto-match rate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9704" y="5504688"/>
            <a:ext cx="32095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applied without human touch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065008" y="4297680"/>
            <a:ext cx="3575304" cy="1627632"/>
          </a:xfrm>
          <a:prstGeom prst="roundRect">
            <a:avLst>
              <a:gd name="adj" fmla="val 5056"/>
            </a:avLst>
          </a:prstGeom>
          <a:solidFill>
            <a:srgbClr val="152035"/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47888" y="4498848"/>
            <a:ext cx="3209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$2,500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247888" y="5193792"/>
            <a:ext cx="32095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47888" y="5504688"/>
            <a:ext cx="32095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waived on 12-month commitment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LunarLogic AR Automation — Forvis Mazars</dc:title>
  <dc:subject>Solving Cash Application in Professional Services</dc:subject>
  <dc:creator>LunarLogic LLC</dc:creator>
  <cp:lastModifiedBy>LunarLogic LLC</cp:lastModifiedBy>
  <cp:revision>1</cp:revision>
  <dcterms:created xsi:type="dcterms:W3CDTF">2026-06-11T15:35:11Z</dcterms:created>
  <dcterms:modified xsi:type="dcterms:W3CDTF">2026-06-11T15:35:11Z</dcterms:modified>
</cp:coreProperties>
</file>