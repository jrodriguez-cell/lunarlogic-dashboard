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119360" cy="6858000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5119360" y="0"/>
            <a:ext cx="36576" cy="685800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420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420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AUTOMATION PLATFORM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08760"/>
            <a:ext cx="3839200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4204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40080" y="1993392"/>
            <a:ext cx="420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0080" y="2523744"/>
            <a:ext cx="420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Sukits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71216"/>
            <a:ext cx="420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Advisory  ·  Chicago Office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420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93680" y="914400"/>
            <a:ext cx="6338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Call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393680" y="1627632"/>
            <a:ext cx="6338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Automation for Professional Services Firms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93680" y="2148840"/>
            <a:ext cx="633807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16" name="Text 14"/>
          <p:cNvSpPr/>
          <p:nvPr/>
        </p:nvSpPr>
        <p:spPr>
          <a:xfrm>
            <a:off x="5393680" y="2331720"/>
            <a:ext cx="6338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full Order-to-Cash cycle — from invoice creation to cash application — without changing your ERP or accounting workflows.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393680" y="2971800"/>
            <a:ext cx="6338072" cy="1920240"/>
          </a:xfrm>
          <a:prstGeom prst="roundRect">
            <a:avLst>
              <a:gd name="adj" fmla="val 5714"/>
            </a:avLst>
          </a:prstGeom>
          <a:solidFill>
            <a:srgbClr val="152035"/>
          </a:solidFill>
          <a:ln w="12700">
            <a:solidFill>
              <a:srgbClr val="00C4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93680" y="2971800"/>
            <a:ext cx="6338072" cy="36576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19" name="Text 17"/>
          <p:cNvSpPr/>
          <p:nvPr/>
        </p:nvSpPr>
        <p:spPr>
          <a:xfrm>
            <a:off x="5668000" y="3090672"/>
            <a:ext cx="578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PROOF POINT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68000" y="3383280"/>
            <a:ext cx="578943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"84% reduction in invoice processing time.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19-day DSO improvement in under 90 days."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68000" y="4279392"/>
            <a:ext cx="57894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Kaptain Clean LLC, Anchor Client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"/>
            <a:ext cx="1218895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0"/>
            <a:ext cx="9308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pPr algn="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 in professional services today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LLC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476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  ·  Chicago Office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161288"/>
            <a:ext cx="5385816" cy="1554480"/>
          </a:xfrm>
          <a:prstGeom prst="roundRect">
            <a:avLst>
              <a:gd name="adj" fmla="val 5882"/>
            </a:avLst>
          </a:prstGeom>
          <a:solidFill>
            <a:srgbClr val="152035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161288"/>
            <a:ext cx="45720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32588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Manual follow-up is time-consuming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1728216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spend 3–8 hours per week manually chasing invoices, building aging reports, and sending reminder emails — work that generates zero revenue.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17336" y="1161288"/>
            <a:ext cx="5385816" cy="1554480"/>
          </a:xfrm>
          <a:prstGeom prst="roundRect">
            <a:avLst>
              <a:gd name="adj" fmla="val 5882"/>
            </a:avLst>
          </a:prstGeom>
          <a:solidFill>
            <a:srgbClr val="1520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7336" y="1161288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32588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No real-time visibility into AR health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45936" y="1728216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DSO, aging buckets, and overdue balances live in spreadsheets or ERP exports — not a live dashboard. By the time someone sees the data, it is already stale.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2944368"/>
            <a:ext cx="5385816" cy="1554480"/>
          </a:xfrm>
          <a:prstGeom prst="roundRect">
            <a:avLst>
              <a:gd name="adj" fmla="val 5882"/>
            </a:avLst>
          </a:prstGeom>
          <a:solidFill>
            <a:srgbClr val="152035"/>
          </a:solidFill>
          <a:ln w="762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944368"/>
            <a:ext cx="45720" cy="1554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10896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Cash application is slow and error-prone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3511296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bank deposits to open invoices takes days. Partial payments, bulk wires, and name mismatches create a permanent pending queue that delays the close.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2944368"/>
            <a:ext cx="5385816" cy="1554480"/>
          </a:xfrm>
          <a:prstGeom prst="roundRect">
            <a:avLst>
              <a:gd name="adj" fmla="val 5882"/>
            </a:avLst>
          </a:prstGeom>
          <a:solidFill>
            <a:srgbClr val="152035"/>
          </a:solidFill>
          <a:ln w="762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17336" y="2944368"/>
            <a:ext cx="45720" cy="1554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6345936" y="3108960"/>
            <a:ext cx="49743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Write-off risk is invisible until it is too late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45936" y="3511296"/>
            <a:ext cx="497433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90+ day balances accumulate quietly. By the time they surface in a period-end review, the write-off conversation is already difficult — and ASC 310 compliance is at risk.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"/>
            <a:ext cx="1218895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0"/>
            <a:ext cx="9308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LunarLogic Solution</a:t>
            </a:r>
            <a:pPr algn="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ERP-agnostic · multi-office ready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LLC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476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  ·  Chicago Office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115568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Four modules. Full Order-to-Cash automation.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02920" y="1618488"/>
            <a:ext cx="2692908" cy="4233672"/>
          </a:xfrm>
          <a:prstGeom prst="roundRect">
            <a:avLst>
              <a:gd name="adj" fmla="val 3396"/>
            </a:avLst>
          </a:prstGeom>
          <a:solidFill>
            <a:srgbClr val="152035"/>
          </a:solidFill>
          <a:ln w="9525">
            <a:solidFill>
              <a:srgbClr val="00C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618488"/>
            <a:ext cx="2692908" cy="54864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801368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00CFFF">
              <a:alpha val="20000"/>
            </a:srgbClr>
          </a:solidFill>
          <a:ln w="6350">
            <a:solidFill>
              <a:srgbClr val="00C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18013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5800" y="2221992"/>
            <a:ext cx="2327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Automation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2788920"/>
            <a:ext cx="2327148" cy="18288"/>
          </a:xfrm>
          <a:prstGeom prst="rect">
            <a:avLst/>
          </a:prstGeom>
          <a:solidFill>
            <a:srgbClr val="00CFFF">
              <a:alpha val="4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935224"/>
            <a:ext cx="2327148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send invoices from Slack commands or PDF uploads. AI-parsed into your ERP — no manual data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2988" y="1618488"/>
            <a:ext cx="2692908" cy="4233672"/>
          </a:xfrm>
          <a:prstGeom prst="roundRect">
            <a:avLst>
              <a:gd name="adj" fmla="val 3396"/>
            </a:avLst>
          </a:prstGeom>
          <a:solidFill>
            <a:srgbClr val="152035"/>
          </a:solidFill>
          <a:ln w="9525">
            <a:solidFill>
              <a:srgbClr val="2D5B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2988" y="1618488"/>
            <a:ext cx="2692908" cy="54864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20" name="Shape 18"/>
          <p:cNvSpPr/>
          <p:nvPr/>
        </p:nvSpPr>
        <p:spPr>
          <a:xfrm>
            <a:off x="3515868" y="1801368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2D5BE3">
              <a:alpha val="20000"/>
            </a:srgbClr>
          </a:solidFill>
          <a:ln w="6350">
            <a:solidFill>
              <a:srgbClr val="2D5B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15868" y="18013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15868" y="2221992"/>
            <a:ext cx="2327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Reminders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515868" y="2788920"/>
            <a:ext cx="2327148" cy="18288"/>
          </a:xfrm>
          <a:prstGeom prst="rect">
            <a:avLst/>
          </a:prstGeom>
          <a:solidFill>
            <a:srgbClr val="2D5BE3">
              <a:alpha val="4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3515868" y="2935224"/>
            <a:ext cx="2327148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escalating reminders via Outlook at 7, 14, and 30 days past due. VIP exemption list. Daily AR aging to Slack.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1618488"/>
            <a:ext cx="2692908" cy="4233672"/>
          </a:xfrm>
          <a:prstGeom prst="roundRect">
            <a:avLst>
              <a:gd name="adj" fmla="val 3396"/>
            </a:avLst>
          </a:prstGeom>
          <a:solidFill>
            <a:srgbClr val="152035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1618488"/>
            <a:ext cx="2692908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Shape 25"/>
          <p:cNvSpPr/>
          <p:nvPr/>
        </p:nvSpPr>
        <p:spPr>
          <a:xfrm>
            <a:off x="6345936" y="1801368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F59E0B">
              <a:alpha val="20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45936" y="18013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45936" y="2221992"/>
            <a:ext cx="2327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Application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45936" y="2788920"/>
            <a:ext cx="2327148" cy="18288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345936" y="2935224"/>
            <a:ext cx="2327148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Bank-connected payment matching at 90%+ confidence. Auto-apply or Slack-route ambiguous bulk payments. FIFO by default.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93124" y="1618488"/>
            <a:ext cx="2692908" cy="4233672"/>
          </a:xfrm>
          <a:prstGeom prst="roundRect">
            <a:avLst>
              <a:gd name="adj" fmla="val 3396"/>
            </a:avLst>
          </a:prstGeom>
          <a:solidFill>
            <a:srgbClr val="152035"/>
          </a:solidFill>
          <a:ln w="9525">
            <a:solidFill>
              <a:srgbClr val="00C48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993124" y="1618488"/>
            <a:ext cx="2692908" cy="5486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4" name="Shape 32"/>
          <p:cNvSpPr/>
          <p:nvPr/>
        </p:nvSpPr>
        <p:spPr>
          <a:xfrm>
            <a:off x="9176004" y="1801368"/>
            <a:ext cx="548640" cy="292608"/>
          </a:xfrm>
          <a:prstGeom prst="roundRect">
            <a:avLst>
              <a:gd name="adj" fmla="val 15625"/>
            </a:avLst>
          </a:prstGeom>
          <a:solidFill>
            <a:srgbClr val="00C48C">
              <a:alpha val="20000"/>
            </a:srgbClr>
          </a:solidFill>
          <a:ln w="6350">
            <a:solidFill>
              <a:srgbClr val="00C4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76004" y="1801368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WF4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176004" y="2221992"/>
            <a:ext cx="23271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Dashboard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9176004" y="2788920"/>
            <a:ext cx="2327148" cy="18288"/>
          </a:xfrm>
          <a:prstGeom prst="rect">
            <a:avLst/>
          </a:prstGeom>
          <a:solidFill>
            <a:srgbClr val="00C48C">
              <a:alpha val="4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76004" y="2935224"/>
            <a:ext cx="2327148" cy="2679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DSO trend, aging waterfall, invoice board, customer behavior scoring. Bookmarkable URL — no ERP login required.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181344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connectors: NetSuite  ·  Microsoft Dynamics  ·  SAP  ·  QuickBooks  ·  Sage  ·  Custom API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"/>
            <a:ext cx="1218895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0"/>
            <a:ext cx="9308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pPr algn="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AR Dashboard · Forvis Mazars Chicago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LLC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476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  ·  Chicago Office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126894" cy="1188720"/>
          </a:xfrm>
          <a:prstGeom prst="roundRect">
            <a:avLst>
              <a:gd name="adj" fmla="val 769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280160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DSO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1517904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36d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85800" y="2029968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58d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66974" y="1115568"/>
            <a:ext cx="2126894" cy="1188720"/>
          </a:xfrm>
          <a:prstGeom prst="roundRect">
            <a:avLst>
              <a:gd name="adj" fmla="val 769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49854" y="1280160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IMPROVEMENT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949854" y="1517904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-22d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949854" y="2029968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go-live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031029" y="1115568"/>
            <a:ext cx="2126894" cy="1188720"/>
          </a:xfrm>
          <a:prstGeom prst="roundRect">
            <a:avLst>
              <a:gd name="adj" fmla="val 769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3909" y="1280160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13909" y="1517904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$892k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213909" y="2029968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open invoices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295083" y="1115568"/>
            <a:ext cx="2126894" cy="1188720"/>
          </a:xfrm>
          <a:prstGeom prst="roundRect">
            <a:avLst>
              <a:gd name="adj" fmla="val 769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7963" y="1280160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477963" y="1517904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inv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477963" y="2029968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$218k outstanding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59138" y="1115568"/>
            <a:ext cx="2126894" cy="1188720"/>
          </a:xfrm>
          <a:prstGeom prst="roundRect">
            <a:avLst>
              <a:gd name="adj" fmla="val 7692"/>
            </a:avLst>
          </a:prstGeom>
          <a:solidFill>
            <a:srgbClr val="152035"/>
          </a:solidFill>
          <a:ln w="9525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42018" y="1280160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EFF.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42018" y="1517904"/>
            <a:ext cx="176113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9742018" y="2029968"/>
            <a:ext cx="176113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within terms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02920" y="2578608"/>
            <a:ext cx="5385816" cy="1604772"/>
          </a:xfrm>
          <a:prstGeom prst="roundRect">
            <a:avLst>
              <a:gd name="adj" fmla="val 4558"/>
            </a:avLst>
          </a:prstGeom>
          <a:solidFill>
            <a:srgbClr val="152035"/>
          </a:solidFill>
          <a:ln w="6350">
            <a:solidFill>
              <a:srgbClr val="2D5BE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" y="27249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DSO Trend Chart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4088" y="3054096"/>
            <a:ext cx="498348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DSO with go-live annotation. The inflection point is the single most compelling retention visual — the line bends down at go-live.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25896" y="2578608"/>
            <a:ext cx="5385816" cy="1604772"/>
          </a:xfrm>
          <a:prstGeom prst="roundRect">
            <a:avLst>
              <a:gd name="adj" fmla="val 4558"/>
            </a:avLst>
          </a:prstGeom>
          <a:solidFill>
            <a:srgbClr val="152035"/>
          </a:solidFill>
          <a:ln w="6350">
            <a:solidFill>
              <a:srgbClr val="2D5B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27064" y="2724912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Aging Waterfall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27064" y="3054096"/>
            <a:ext cx="498348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/ 1-30 / 31-60 / 61-90 / 90+ buckets. Click any bar to drill down to the source invoices — exportable to Excel with ASC 310 ADA reserve rates.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366260"/>
            <a:ext cx="5385816" cy="1604772"/>
          </a:xfrm>
          <a:prstGeom prst="roundRect">
            <a:avLst>
              <a:gd name="adj" fmla="val 4558"/>
            </a:avLst>
          </a:prstGeom>
          <a:solidFill>
            <a:srgbClr val="152035"/>
          </a:solidFill>
          <a:ln w="6350">
            <a:solidFill>
              <a:srgbClr val="2D5BE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4088" y="451256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Application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04088" y="4841748"/>
            <a:ext cx="498348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90%+ auto-match rate. Audit trail of every decision. Match rules panel shows the engine logic. Unapplied cash flagged per ASC 606 contract liability guidance.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25896" y="4366260"/>
            <a:ext cx="5385816" cy="1604772"/>
          </a:xfrm>
          <a:prstGeom prst="roundRect">
            <a:avLst>
              <a:gd name="adj" fmla="val 4558"/>
            </a:avLst>
          </a:prstGeom>
          <a:solidFill>
            <a:srgbClr val="152035"/>
          </a:solidFill>
          <a:ln w="6350">
            <a:solidFill>
              <a:srgbClr val="2D5BE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27064" y="4512564"/>
            <a:ext cx="4983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Status Report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227064" y="4841748"/>
            <a:ext cx="4983480" cy="10104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GPT-style narrative generated from live data at the top of every tab. Regenerates on demand. Surfaces GAAP compliance flags automatically.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"/>
            <a:ext cx="1218895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0"/>
            <a:ext cx="9308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Roadmap</a:t>
            </a:r>
            <a:pPr algn="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Forvis Mazars · Suggested Path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LLC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476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  ·  Chicago Office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02920" y="1115568"/>
            <a:ext cx="11183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phased rollout designed for a multi-office advisory firm. Each phase delivers measurable ROI before the next begins.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591056"/>
            <a:ext cx="11183112" cy="1380744"/>
          </a:xfrm>
          <a:prstGeom prst="roundRect">
            <a:avLst>
              <a:gd name="adj" fmla="val 6623"/>
            </a:avLst>
          </a:prstGeom>
          <a:solidFill>
            <a:srgbClr val="152035"/>
          </a:solidFill>
          <a:ln w="7620">
            <a:solidFill>
              <a:srgbClr val="00C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1591056"/>
            <a:ext cx="45720" cy="1380744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1824228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FFF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1691640" y="170078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91640" y="19385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— Chicago Office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1700784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Connect ERP (read-only API — no changes to existing workflows)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09160" y="1991106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Deploy WF4 AR Aging Dashboard for one practice group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09160" y="2281428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Baseline DSO measurement established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571750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Staff training: 1-hour Slack-based walkthrough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136392"/>
            <a:ext cx="11183112" cy="1380744"/>
          </a:xfrm>
          <a:prstGeom prst="roundRect">
            <a:avLst>
              <a:gd name="adj" fmla="val 6623"/>
            </a:avLst>
          </a:prstGeom>
          <a:solidFill>
            <a:srgbClr val="152035"/>
          </a:solidFill>
          <a:ln w="7620">
            <a:solidFill>
              <a:srgbClr val="2D5B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136392"/>
            <a:ext cx="45720" cy="1380744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69564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2D5BE3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1691640" y="32461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5–8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91640" y="348386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Reminders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09160" y="3246120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WF2 Payment Reminders live — escalating 7 / 14 / 30 day sequences via Outlook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09160" y="3536442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VIP client exemption list configured per partner input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3826764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Daily AR aging summary posted to practice-group Slack channel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09160" y="4117086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DSO impact measured at 30-day mark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02920" y="4681728"/>
            <a:ext cx="11183112" cy="1380744"/>
          </a:xfrm>
          <a:prstGeom prst="roundRect">
            <a:avLst>
              <a:gd name="adj" fmla="val 6623"/>
            </a:avLst>
          </a:prstGeom>
          <a:solidFill>
            <a:srgbClr val="152035"/>
          </a:solidFill>
          <a:ln w="7620">
            <a:solidFill>
              <a:srgbClr val="00C4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681728"/>
            <a:ext cx="45720" cy="1380744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491490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0C48C">
                    <a:alpha val="2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200" dirty="0"/>
          </a:p>
        </p:txBody>
      </p:sp>
      <p:sp>
        <p:nvSpPr>
          <p:cNvPr id="32" name="Text 30"/>
          <p:cNvSpPr/>
          <p:nvPr/>
        </p:nvSpPr>
        <p:spPr>
          <a:xfrm>
            <a:off x="1691640" y="4791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691640" y="50292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Application + Multi-Office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709160" y="4791456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WF3 Cash Application deployed — bank connected via Plaid / BAI2 / direct API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09160" y="5081778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Match rules configured for firm-specific naming conventions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09160" y="5372100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Roll out to 2–3 additional offices or practice groups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09160" y="5662422"/>
            <a:ext cx="6976872" cy="2903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Consolidated AR dashboard across all offices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35508"/>
            <a:ext cx="12188952" cy="22860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0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377440" y="0"/>
            <a:ext cx="93085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pPr algn="r" indent="0" marL="0">
              <a:buNone/>
            </a:pPr>
            <a:r>
              <a:rPr lang="en-US" sz="13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One conversation away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D1526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LunarLogic LLC  ·  Confidential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094476" y="6565392"/>
            <a:ext cx="55915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Forvis Mazars  ·  Chicago Office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1161288"/>
            <a:ext cx="5303520" cy="4809744"/>
          </a:xfrm>
          <a:prstGeom prst="roundRect">
            <a:avLst>
              <a:gd name="adj" fmla="val 2281"/>
            </a:avLst>
          </a:prstGeom>
          <a:solidFill>
            <a:srgbClr val="152035"/>
          </a:solidFill>
          <a:ln w="15240">
            <a:solidFill>
              <a:srgbClr val="00C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161288"/>
            <a:ext cx="5303520" cy="45720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136245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FORVIS MAZARS GETS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18196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DSO reduction — 15–25 days based on firm benchmarks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77240" y="241401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80%+ of cash application handled automatically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7240" y="300837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Real-time AR health visible to partners and staff — no ERP login required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60273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Scales across offices and practice groups from a single dashboard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7240" y="419709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GAAP alignment — ASC 310, ASC 606, ADA reserve estimation built 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77240" y="47914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  Complete audit trail — every cash application decision logged for SOC 2 / internal controls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1161288"/>
            <a:ext cx="5559552" cy="1481328"/>
          </a:xfrm>
          <a:prstGeom prst="roundRect">
            <a:avLst>
              <a:gd name="adj" fmla="val 6173"/>
            </a:avLst>
          </a:prstGeom>
          <a:solidFill>
            <a:srgbClr val="152035"/>
          </a:solidFill>
          <a:ln w="7620">
            <a:solidFill>
              <a:srgbClr val="00C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161288"/>
            <a:ext cx="45720" cy="1481328"/>
          </a:xfrm>
          <a:prstGeom prst="rect">
            <a:avLst/>
          </a:prstGeom>
          <a:solidFill>
            <a:srgbClr val="00C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327648" y="1536192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FFF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7040880" y="1298448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 Pilot Practice Group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1636776"/>
            <a:ext cx="446227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one office or team to run a 30-day parallel test. No changes to your ERP or existing workflows.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825496"/>
            <a:ext cx="5559552" cy="1481328"/>
          </a:xfrm>
          <a:prstGeom prst="roundRect">
            <a:avLst>
              <a:gd name="adj" fmla="val 6173"/>
            </a:avLst>
          </a:prstGeom>
          <a:solidFill>
            <a:srgbClr val="152035"/>
          </a:solidFill>
          <a:ln w="7620">
            <a:solidFill>
              <a:srgbClr val="2D5B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825496"/>
            <a:ext cx="45720" cy="1481328"/>
          </a:xfrm>
          <a:prstGeom prst="rect">
            <a:avLst/>
          </a:prstGeom>
          <a:solidFill>
            <a:srgbClr val="2D5BE3"/>
          </a:solidFill>
          <a:ln/>
        </p:spPr>
      </p:sp>
      <p:sp>
        <p:nvSpPr>
          <p:cNvPr id="26" name="Text 24"/>
          <p:cNvSpPr/>
          <p:nvPr/>
        </p:nvSpPr>
        <p:spPr>
          <a:xfrm>
            <a:off x="6327648" y="320040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D5BE3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7040880" y="2962656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5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ERP Connection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40880" y="3300984"/>
            <a:ext cx="446227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via API in read-only mode. A 2-week parallel run verifies accuracy before anything posts.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4489704"/>
            <a:ext cx="5559552" cy="1481328"/>
          </a:xfrm>
          <a:prstGeom prst="roundRect">
            <a:avLst>
              <a:gd name="adj" fmla="val 6173"/>
            </a:avLst>
          </a:prstGeom>
          <a:solidFill>
            <a:srgbClr val="152035"/>
          </a:solidFill>
          <a:ln w="7620">
            <a:solidFill>
              <a:srgbClr val="00C48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4489704"/>
            <a:ext cx="45720" cy="1481328"/>
          </a:xfrm>
          <a:prstGeom prst="rect">
            <a:avLst/>
          </a:prstGeom>
          <a:solidFill>
            <a:srgbClr val="00C48C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4864608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C48C">
                    <a:alpha val="2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800" dirty="0"/>
          </a:p>
        </p:txBody>
      </p:sp>
      <p:sp>
        <p:nvSpPr>
          <p:cNvPr id="32" name="Text 30"/>
          <p:cNvSpPr/>
          <p:nvPr/>
        </p:nvSpPr>
        <p:spPr>
          <a:xfrm>
            <a:off x="7040880" y="4626864"/>
            <a:ext cx="44622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30 Days — Measure Results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40880" y="4965192"/>
            <a:ext cx="4462272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automation goes live. We track DSO weekly and deliver a monthly impact report.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217920"/>
            <a:ext cx="11183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earn your business every month through results."  —  Jonathan Rodriguez  ·  jrodriguez@lunarlogic.ai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LunarLogic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LunarLogic AR Automation — Forvis Mazars Exploratory Call</dc:title>
  <dc:subject>PptxGenJS Presentation</dc:subject>
  <dc:creator>LunarLogic LLC</dc:creator>
  <cp:lastModifiedBy>LunarLogic LLC</cp:lastModifiedBy>
  <cp:revision>1</cp:revision>
  <dcterms:created xsi:type="dcterms:W3CDTF">2026-06-10T22:48:33Z</dcterms:created>
  <dcterms:modified xsi:type="dcterms:W3CDTF">2026-06-10T22:48:33Z</dcterms:modified>
</cp:coreProperties>
</file>