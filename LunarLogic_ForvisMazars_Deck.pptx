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875581" cy="6858000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4848149" y="0"/>
            <a:ext cx="27432" cy="6858000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5029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896112"/>
            <a:ext cx="386974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AUTOMATION PLATFORM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3686861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417320"/>
            <a:ext cx="386974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1664208"/>
            <a:ext cx="3961181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Forvis Mazars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76272"/>
            <a:ext cx="396118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Sukits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496312"/>
            <a:ext cx="396118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Advisory  ·  Chicago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6291072"/>
            <a:ext cx="396118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11, 2026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195621" y="914400"/>
            <a:ext cx="6536131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Manual AR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Automated Workflows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195621" y="2331720"/>
            <a:ext cx="653613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professional services firms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95621" y="2798064"/>
            <a:ext cx="6536131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195621" y="2999232"/>
            <a:ext cx="6536131" cy="1783080"/>
          </a:xfrm>
          <a:prstGeom prst="roundRect">
            <a:avLst>
              <a:gd name="adj" fmla="val 5128"/>
            </a:avLst>
          </a:prstGeom>
          <a:solidFill>
            <a:srgbClr val="152035"/>
          </a:solidFill>
          <a:ln w="11430">
            <a:solidFill>
              <a:srgbClr val="00C48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5621" y="2999232"/>
            <a:ext cx="6536131" cy="36576"/>
          </a:xfrm>
          <a:prstGeom prst="rect">
            <a:avLst/>
          </a:prstGeom>
          <a:solidFill>
            <a:srgbClr val="00C48C"/>
          </a:solidFill>
          <a:ln/>
        </p:spPr>
      </p:sp>
      <p:sp>
        <p:nvSpPr>
          <p:cNvPr id="18" name="Text 16"/>
          <p:cNvSpPr/>
          <p:nvPr/>
        </p:nvSpPr>
        <p:spPr>
          <a:xfrm>
            <a:off x="5451653" y="3127248"/>
            <a:ext cx="6024067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PROOF POINT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51653" y="3401568"/>
            <a:ext cx="60240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"84% reduction in invoice processing time.</a:t>
            </a:r>
            <a:endParaRPr lang="en-US" sz="1450" dirty="0"/>
          </a:p>
          <a:p>
            <a:pPr indent="0" marL="0">
              <a:buNone/>
            </a:pPr>
            <a:r>
              <a:rPr lang="en-US" sz="145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19-day DSO improvement in under 90 days."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51653" y="4224528"/>
            <a:ext cx="602406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Kaptain Clean LLC  ·  Anchor Client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your clients manage AR today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56816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56816"/>
            <a:ext cx="36576" cy="9601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066544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3–8 hrs/week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2377440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invoices manually — staff time that generates zero revenue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56816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1636" y="1956816"/>
            <a:ext cx="36576" cy="960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432804" y="2066544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45–60 day DSO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32804" y="2377440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average for professional services — cash locked in AR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081528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081528"/>
            <a:ext cx="36576" cy="960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3191256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 close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9808" y="3502152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match bank deposits against open invoices — manual reconciliation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31636" y="3081528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31636" y="3081528"/>
            <a:ext cx="36576" cy="9601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6432804" y="3191256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bad debt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32804" y="3502152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average write-off rate — preventable with proactive outreach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206240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8A94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206240"/>
            <a:ext cx="36576" cy="960120"/>
          </a:xfrm>
          <a:prstGeom prst="rect">
            <a:avLst/>
          </a:prstGeom>
          <a:solidFill>
            <a:srgbClr val="8A94A6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315968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visibility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49808" y="4626864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health lives in ERP exports and spreadsheets — stale by the time anyone sees 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31636" y="4206240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8A94A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31636" y="4206240"/>
            <a:ext cx="36576" cy="960120"/>
          </a:xfrm>
          <a:prstGeom prst="rect">
            <a:avLst/>
          </a:prstGeom>
          <a:solidFill>
            <a:srgbClr val="8A94A6"/>
          </a:solidFill>
          <a:ln/>
        </p:spPr>
      </p:sp>
      <p:sp>
        <p:nvSpPr>
          <p:cNvPr id="34" name="Text 32"/>
          <p:cNvSpPr/>
          <p:nvPr/>
        </p:nvSpPr>
        <p:spPr>
          <a:xfrm>
            <a:off x="6432804" y="4315968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32804" y="4626864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application decisions undocumented — SOC 2 and internal controls gap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Order-to-Cash — ERP-agnostic, multi-office ready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56816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00C4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56816"/>
            <a:ext cx="36576" cy="960120"/>
          </a:xfrm>
          <a:prstGeom prst="rect">
            <a:avLst/>
          </a:prstGeom>
          <a:solidFill>
            <a:srgbClr val="00C48C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066544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 hr/week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2377440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reminders, aging reports, and cash matching — staff focused on exceptions only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56816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00C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1636" y="1956816"/>
            <a:ext cx="36576" cy="960120"/>
          </a:xfrm>
          <a:prstGeom prst="rect">
            <a:avLst/>
          </a:prstGeom>
          <a:solidFill>
            <a:srgbClr val="00C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32804" y="2066544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 day drop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32804" y="2377440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improvement observed at go-live — the trend line bends down within 30 days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081528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00C4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081528"/>
            <a:ext cx="36576" cy="960120"/>
          </a:xfrm>
          <a:prstGeom prst="rect">
            <a:avLst/>
          </a:prstGeom>
          <a:solidFill>
            <a:srgbClr val="00C48C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3191256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 avg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9808" y="3502152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deposit to ledger posting — 90%+ auto-matched with full audit trail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31636" y="3081528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00C4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31636" y="3081528"/>
            <a:ext cx="36576" cy="960120"/>
          </a:xfrm>
          <a:prstGeom prst="rect">
            <a:avLst/>
          </a:prstGeom>
          <a:solidFill>
            <a:srgbClr val="00C48C"/>
          </a:solidFill>
          <a:ln/>
        </p:spPr>
      </p:sp>
      <p:sp>
        <p:nvSpPr>
          <p:cNvPr id="26" name="Text 24"/>
          <p:cNvSpPr/>
          <p:nvPr/>
        </p:nvSpPr>
        <p:spPr>
          <a:xfrm>
            <a:off x="6432804" y="3191256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0.6% bad debt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32804" y="3502152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escalating reminders prevent write-offs before balances age past recovery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206240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00C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206240"/>
            <a:ext cx="36576" cy="960120"/>
          </a:xfrm>
          <a:prstGeom prst="rect">
            <a:avLst/>
          </a:prstGeom>
          <a:solidFill>
            <a:srgbClr val="00CFF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315968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49808" y="4626864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aging, DSO trend, invoice status — bookmarkable URL, no ERP login required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31636" y="4206240"/>
            <a:ext cx="5408676" cy="960120"/>
          </a:xfrm>
          <a:prstGeom prst="roundRect">
            <a:avLst>
              <a:gd name="adj" fmla="val 7619"/>
            </a:avLst>
          </a:prstGeom>
          <a:solidFill>
            <a:srgbClr val="152035"/>
          </a:solidFill>
          <a:ln w="6350">
            <a:solidFill>
              <a:srgbClr val="00C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31636" y="4206240"/>
            <a:ext cx="36576" cy="960120"/>
          </a:xfrm>
          <a:prstGeom prst="rect">
            <a:avLst/>
          </a:prstGeom>
          <a:solidFill>
            <a:srgbClr val="00CFFF"/>
          </a:solidFill>
          <a:ln/>
        </p:spPr>
      </p:sp>
      <p:sp>
        <p:nvSpPr>
          <p:cNvPr id="34" name="Text 32"/>
          <p:cNvSpPr/>
          <p:nvPr/>
        </p:nvSpPr>
        <p:spPr>
          <a:xfrm>
            <a:off x="6432804" y="4315968"/>
            <a:ext cx="50063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32804" y="4626864"/>
            <a:ext cx="50063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cash application decision logged — confidence score, rule applied, reviewer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compounding outcomes for every client you serve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75104"/>
            <a:ext cx="3575304" cy="4517136"/>
          </a:xfrm>
          <a:prstGeom prst="roundRect">
            <a:avLst>
              <a:gd name="adj" fmla="val 2558"/>
            </a:avLst>
          </a:prstGeom>
          <a:solidFill>
            <a:srgbClr val="152035"/>
          </a:solidFill>
          <a:ln w="10160">
            <a:solidFill>
              <a:srgbClr val="00C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75104"/>
            <a:ext cx="3575304" cy="45720"/>
          </a:xfrm>
          <a:prstGeom prst="rect">
            <a:avLst/>
          </a:prstGeom>
          <a:solidFill>
            <a:srgbClr val="00C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157984"/>
            <a:ext cx="3172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SAVINGS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49808" y="2395728"/>
            <a:ext cx="3172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85–90%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49808" y="3145536"/>
            <a:ext cx="3172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collections work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9808" y="3483864"/>
            <a:ext cx="3172968" cy="13716"/>
          </a:xfrm>
          <a:prstGeom prst="rect">
            <a:avLst/>
          </a:prstGeom>
          <a:solidFill>
            <a:srgbClr val="00C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63931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5–15 hrs/week  →  &lt;1 hr/week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400507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200–700 hours freed annually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9808" y="437083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$13K–$40K labor cost savings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49808" y="473659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Staff reallocated to advisory work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06824" y="1975104"/>
            <a:ext cx="3575304" cy="4517136"/>
          </a:xfrm>
          <a:prstGeom prst="roundRect">
            <a:avLst>
              <a:gd name="adj" fmla="val 2558"/>
            </a:avLst>
          </a:prstGeom>
          <a:solidFill>
            <a:srgbClr val="152035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06824" y="1975104"/>
            <a:ext cx="3575304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4507992" y="2157984"/>
            <a:ext cx="3172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07992" y="2395728"/>
            <a:ext cx="3172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 days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507992" y="3145536"/>
            <a:ext cx="3172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improvement at go-live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07992" y="3483864"/>
            <a:ext cx="3172968" cy="137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4507992" y="363931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 days  →  35 days (typical)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07992" y="400507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$200K+ in freed capital per firm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07992" y="437083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Near-term cash flow visibility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07992" y="473659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Trend chart bends at go-live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65008" y="1975104"/>
            <a:ext cx="3575304" cy="4517136"/>
          </a:xfrm>
          <a:prstGeom prst="roundRect">
            <a:avLst>
              <a:gd name="adj" fmla="val 2558"/>
            </a:avLst>
          </a:prstGeom>
          <a:solidFill>
            <a:srgbClr val="152035"/>
          </a:solidFill>
          <a:ln w="10160">
            <a:solidFill>
              <a:srgbClr val="00C4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5008" y="1975104"/>
            <a:ext cx="3575304" cy="45720"/>
          </a:xfrm>
          <a:prstGeom prst="rect">
            <a:avLst/>
          </a:prstGeom>
          <a:solidFill>
            <a:srgbClr val="00C48C"/>
          </a:solidFill>
          <a:ln/>
        </p:spPr>
      </p:sp>
      <p:sp>
        <p:nvSpPr>
          <p:cNvPr id="34" name="Text 32"/>
          <p:cNvSpPr/>
          <p:nvPr/>
        </p:nvSpPr>
        <p:spPr>
          <a:xfrm>
            <a:off x="8266176" y="2157984"/>
            <a:ext cx="3172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DEBT PREVENTION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266176" y="2395728"/>
            <a:ext cx="3172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 →  0.6%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8266176" y="3145536"/>
            <a:ext cx="3172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write-off rate with proactive outreach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66176" y="3483864"/>
            <a:ext cx="3172968" cy="13716"/>
          </a:xfrm>
          <a:prstGeom prst="rect">
            <a:avLst/>
          </a:prstGeom>
          <a:solidFill>
            <a:srgbClr val="00C48C"/>
          </a:solidFill>
          <a:ln/>
        </p:spPr>
      </p:sp>
      <p:sp>
        <p:nvSpPr>
          <p:cNvPr id="38" name="Text 36"/>
          <p:cNvSpPr/>
          <p:nvPr/>
        </p:nvSpPr>
        <p:spPr>
          <a:xfrm>
            <a:off x="8266176" y="363931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$70K+ prevented annually (est.)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66176" y="400507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Escalating reminders via Outlook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66176" y="437083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90+ day exposure surfaced weekly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266176" y="4736592"/>
            <a:ext cx="3172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ASC 310-10-35 ADA reserve support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1124712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719072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200–700 hours freed up annually across your client portfolio...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176272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becomes possible for your advisory practice?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724912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07792"/>
            <a:ext cx="3575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Clients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291840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Reallocate AR staff to higher-value work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675888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Improve cash flow forecasting accuracy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059936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Reduce period-close cycle 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443984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Eliminate manual reconciliation backlog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06824" y="2907792"/>
            <a:ext cx="3575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Forvis Mazars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06824" y="3291840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Differentiated advisory offering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06824" y="3675888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Recurring technology revenue stream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06824" y="4059936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Stickier client relationships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06824" y="4443984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GAAP-aligned reporting built in (ASC 310 / 606)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65008" y="2907792"/>
            <a:ext cx="3575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Engagement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65008" y="3291840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Live demo available today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65008" y="3675888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30-day parallel pilot — no ERP changes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65008" y="4059936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White-label or referral partnership paths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65008" y="4443984"/>
            <a:ext cx="3575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60-day satisfaction guarantee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Dashboard — Forvis Mazars Chicago 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56816"/>
            <a:ext cx="2108606" cy="1097280"/>
          </a:xfrm>
          <a:prstGeom prst="roundRect">
            <a:avLst>
              <a:gd name="adj" fmla="val 6667"/>
            </a:avLst>
          </a:prstGeom>
          <a:solidFill>
            <a:srgbClr val="152035"/>
          </a:solidFill>
          <a:ln w="762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084832"/>
            <a:ext cx="177942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DSO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13232" y="2304288"/>
            <a:ext cx="17794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13232" y="2798064"/>
            <a:ext cx="177942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from 58d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94406" y="1956816"/>
            <a:ext cx="2108606" cy="1097280"/>
          </a:xfrm>
          <a:prstGeom prst="roundRect">
            <a:avLst>
              <a:gd name="adj" fmla="val 6667"/>
            </a:avLst>
          </a:prstGeom>
          <a:solidFill>
            <a:srgbClr val="152035"/>
          </a:solidFill>
          <a:ln w="762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58998" y="2084832"/>
            <a:ext cx="177942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958998" y="2304288"/>
            <a:ext cx="17794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−22d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958998" y="2798064"/>
            <a:ext cx="177942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go-live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40173" y="1956816"/>
            <a:ext cx="2108606" cy="1097280"/>
          </a:xfrm>
          <a:prstGeom prst="roundRect">
            <a:avLst>
              <a:gd name="adj" fmla="val 6667"/>
            </a:avLst>
          </a:prstGeom>
          <a:solidFill>
            <a:srgbClr val="152035"/>
          </a:solidFill>
          <a:ln w="762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04765" y="2084832"/>
            <a:ext cx="177942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204765" y="2304288"/>
            <a:ext cx="17794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$892k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204765" y="2798064"/>
            <a:ext cx="177942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open invoices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285939" y="1956816"/>
            <a:ext cx="2108606" cy="1097280"/>
          </a:xfrm>
          <a:prstGeom prst="roundRect">
            <a:avLst>
              <a:gd name="adj" fmla="val 6667"/>
            </a:avLst>
          </a:prstGeom>
          <a:solidFill>
            <a:srgbClr val="152035"/>
          </a:solidFill>
          <a:ln w="762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50531" y="2084832"/>
            <a:ext cx="177942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50531" y="2304288"/>
            <a:ext cx="17794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450531" y="2798064"/>
            <a:ext cx="177942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$218k at risk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531706" y="1956816"/>
            <a:ext cx="2108606" cy="1097280"/>
          </a:xfrm>
          <a:prstGeom prst="roundRect">
            <a:avLst>
              <a:gd name="adj" fmla="val 6667"/>
            </a:avLst>
          </a:prstGeom>
          <a:solidFill>
            <a:srgbClr val="152035"/>
          </a:solidFill>
          <a:ln w="762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96298" y="2084832"/>
            <a:ext cx="177942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 RATE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9696298" y="2304288"/>
            <a:ext cx="17794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9696298" y="2798064"/>
            <a:ext cx="177942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applied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310128"/>
            <a:ext cx="2670048" cy="3035808"/>
          </a:xfrm>
          <a:prstGeom prst="roundRect">
            <a:avLst>
              <a:gd name="adj" fmla="val 2740"/>
            </a:avLst>
          </a:prstGeom>
          <a:solidFill>
            <a:srgbClr val="0F1C30"/>
          </a:solidFill>
          <a:ln w="6350">
            <a:solidFill>
              <a:srgbClr val="00C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3310128"/>
            <a:ext cx="2670048" cy="36576"/>
          </a:xfrm>
          <a:prstGeom prst="rect">
            <a:avLst/>
          </a:prstGeom>
          <a:solidFill>
            <a:srgbClr val="00C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" y="3438144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Trend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3232" y="3767328"/>
            <a:ext cx="2340864" cy="2441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rolling chart. Go-live annotation shows the inflection point — the line bends down. Most compelling retention visual in the demo.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55848" y="3310128"/>
            <a:ext cx="2670048" cy="3035808"/>
          </a:xfrm>
          <a:prstGeom prst="roundRect">
            <a:avLst>
              <a:gd name="adj" fmla="val 2740"/>
            </a:avLst>
          </a:prstGeom>
          <a:solidFill>
            <a:srgbClr val="0F1C30"/>
          </a:solidFill>
          <a:ln w="6350">
            <a:solidFill>
              <a:srgbClr val="2D5B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55848" y="3310128"/>
            <a:ext cx="2670048" cy="36576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38" name="Text 36"/>
          <p:cNvSpPr/>
          <p:nvPr/>
        </p:nvSpPr>
        <p:spPr>
          <a:xfrm>
            <a:off x="3520440" y="3438144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Aging Drill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520440" y="3767328"/>
            <a:ext cx="2340864" cy="2441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aging bucket → source invoices with ASC 310 ADA reserve rates. Exportable to Excel. Full GAAP disclosure support.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163056" y="3310128"/>
            <a:ext cx="2670048" cy="3035808"/>
          </a:xfrm>
          <a:prstGeom prst="roundRect">
            <a:avLst>
              <a:gd name="adj" fmla="val 2740"/>
            </a:avLst>
          </a:prstGeom>
          <a:solidFill>
            <a:srgbClr val="0F1C30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63056" y="3310128"/>
            <a:ext cx="2670048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6327648" y="3438144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Application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27648" y="3767328"/>
            <a:ext cx="2340864" cy="2441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90%+ auto-match. Confidence distribution chart. Audit trail of every decision — confidence score, rule used, who reviewed.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970264" y="3310128"/>
            <a:ext cx="2670048" cy="3035808"/>
          </a:xfrm>
          <a:prstGeom prst="roundRect">
            <a:avLst>
              <a:gd name="adj" fmla="val 2740"/>
            </a:avLst>
          </a:prstGeom>
          <a:solidFill>
            <a:srgbClr val="0F1C30"/>
          </a:solidFill>
          <a:ln w="6350">
            <a:solidFill>
              <a:srgbClr val="00C48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70264" y="3310128"/>
            <a:ext cx="2670048" cy="36576"/>
          </a:xfrm>
          <a:prstGeom prst="rect">
            <a:avLst/>
          </a:prstGeom>
          <a:solidFill>
            <a:srgbClr val="00C48C"/>
          </a:solidFill>
          <a:ln/>
        </p:spPr>
      </p:sp>
      <p:sp>
        <p:nvSpPr>
          <p:cNvPr id="46" name="Text 44"/>
          <p:cNvSpPr/>
          <p:nvPr/>
        </p:nvSpPr>
        <p:spPr>
          <a:xfrm>
            <a:off x="9134856" y="3438144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Status Report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134856" y="3767328"/>
            <a:ext cx="2340864" cy="2441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narrative at the top of every tab. GAAP flags surfaced automatically. Regenerates on demand.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this conversation to your first client deployment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56816"/>
            <a:ext cx="11091672" cy="1399032"/>
          </a:xfrm>
          <a:prstGeom prst="roundRect">
            <a:avLst>
              <a:gd name="adj" fmla="val 6536"/>
            </a:avLst>
          </a:prstGeom>
          <a:solidFill>
            <a:srgbClr val="152035"/>
          </a:solidFill>
          <a:ln w="7620">
            <a:solidFill>
              <a:srgbClr val="00C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56816"/>
            <a:ext cx="45720" cy="1399032"/>
          </a:xfrm>
          <a:prstGeom prst="rect">
            <a:avLst/>
          </a:prstGeom>
          <a:solidFill>
            <a:srgbClr val="00C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244852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1600200" y="2093976"/>
            <a:ext cx="98572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 Pilot Client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00200" y="2432304"/>
            <a:ext cx="9857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client where AR pain is highest — professional services, 8–20 staff, ERP already in place. We run a 30-day parallel test. No changes to their ERP or accounting workflows.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538728"/>
            <a:ext cx="11091672" cy="1399032"/>
          </a:xfrm>
          <a:prstGeom prst="roundRect">
            <a:avLst>
              <a:gd name="adj" fmla="val 6536"/>
            </a:avLst>
          </a:prstGeom>
          <a:solidFill>
            <a:srgbClr val="152035"/>
          </a:solidFill>
          <a:ln w="7620">
            <a:solidFill>
              <a:srgbClr val="2D5B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538728"/>
            <a:ext cx="45720" cy="1399032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26764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600200" y="3675888"/>
            <a:ext cx="98572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Connection +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0200" y="4014216"/>
            <a:ext cx="9857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connect via read-only API. A 2-week shadow run measures DSO, aging, and cash application speed before automation begins. Baseline established for ROI measurement.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91672" cy="1399032"/>
          </a:xfrm>
          <a:prstGeom prst="roundRect">
            <a:avLst>
              <a:gd name="adj" fmla="val 6536"/>
            </a:avLst>
          </a:prstGeom>
          <a:solidFill>
            <a:srgbClr val="152035"/>
          </a:solidFill>
          <a:ln w="7620">
            <a:solidFill>
              <a:srgbClr val="00C4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120640"/>
            <a:ext cx="45720" cy="1399032"/>
          </a:xfrm>
          <a:prstGeom prst="rect">
            <a:avLst/>
          </a:prstGeom>
          <a:solidFill>
            <a:srgbClr val="00C48C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08676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1600200" y="5257800"/>
            <a:ext cx="98572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— Measure in 30 Days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00200" y="5596128"/>
            <a:ext cx="9857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goes live. We track DSO weekly, post AR summaries to Slack daily, and deliver a monthly impact report. You see the line bending down within the first month.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28192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earn your business every month through results."  —  Jonathan Rodriguez  ·  jrodriguez@lunarlogic.ai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LunarLogic AR Automation — Forvis Mazars Exploratory Call</dc:title>
  <dc:subject>PptxGenJS Presentation</dc:subject>
  <dc:creator>LunarLogic LLC</dc:creator>
  <cp:lastModifiedBy>LunarLogic LLC</cp:lastModifiedBy>
  <cp:revision>1</cp:revision>
  <dcterms:created xsi:type="dcterms:W3CDTF">2026-06-10T23:19:42Z</dcterms:created>
  <dcterms:modified xsi:type="dcterms:W3CDTF">2026-06-10T23:19:42Z</dcterms:modified>
</cp:coreProperties>
</file>