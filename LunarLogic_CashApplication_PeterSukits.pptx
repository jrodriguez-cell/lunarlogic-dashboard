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2FF"/>
                </a:solidFill>
                <a:latin typeface="Calibri"/>
              </a:rPr>
              <a:t>SOLVING YOUR CASH APPLICATION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Automating Payment Matching Across
Every Incoming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291840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429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BEC5"/>
                </a:solidFill>
                <a:latin typeface="Calibri"/>
              </a:rPr>
              <a:t>Prepared for:  Peter Sukits, Senior Finance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LunarLogic  ·  Jonathan Rodriguez  · 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560320"/>
            <a:ext cx="4114800" cy="32004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  <a:latin typeface="Calibri"/>
              </a:rPr>
              <a:t>Clients using LunarLogic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00C2FF"/>
                </a:solidFill>
                <a:latin typeface="Calibri"/>
              </a:rPr>
              <a:t>19-Day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690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average DSO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17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— Kaptain Clean LLC, anchor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THE PROBLEM WE HEARD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Payments Arrive From Everywhere — Matching Them Is a Manual Nightmare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5029200" cy="713232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1874519"/>
            <a:ext cx="6217920" cy="713232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476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⚠  ACH / Wire transfers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47672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Reference fields are truncated or blank — impossible to auto-match.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15768"/>
            <a:ext cx="5029200" cy="713232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2715768"/>
            <a:ext cx="6217920" cy="713232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⚠  Check 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788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Remittance detail lives in a scanned PDF, not your ERP.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57015"/>
            <a:ext cx="5029200" cy="713232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557015"/>
            <a:ext cx="6217920" cy="713232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301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⚠  Credit card /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63016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Customer portals post lump-sum payments against multiple invoices.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98264"/>
            <a:ext cx="5029200" cy="713232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4398264"/>
            <a:ext cx="6217920" cy="713232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7141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⚠  Partial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471416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Split payments across invoices require manual allocation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39512"/>
            <a:ext cx="5029200" cy="713232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77840" y="5239512"/>
            <a:ext cx="6217920" cy="713232"/>
          </a:xfrm>
          <a:prstGeom prst="rect">
            <a:avLst/>
          </a:prstGeom>
          <a:solidFill>
            <a:srgbClr val="0F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1266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Calibri"/>
              </a:rPr>
              <a:t>⚠  High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312664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Finance teams spend hours each week on cash application instead of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Every Day of Delay in Cash Application Costs Real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743200" cy="4114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35"/>
                </a:solidFill>
                <a:latin typeface="Calibri"/>
              </a:rPr>
              <a:t>4–8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  <a:latin typeface="Calibri"/>
              </a:rPr>
              <a:t>per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59" y="3383280"/>
            <a:ext cx="21945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3520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staff time lost
to manual matching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920240"/>
            <a:ext cx="2743200" cy="4114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35"/>
                </a:solidFill>
                <a:latin typeface="Calibri"/>
              </a:rPr>
              <a:t>3–5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  <a:latin typeface="Calibri"/>
              </a:rPr>
              <a:t>average 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3383280"/>
            <a:ext cx="21945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3520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between payment receipt
and QB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1920240"/>
            <a:ext cx="2743200" cy="4114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35"/>
                </a:solidFill>
                <a:latin typeface="Calibri"/>
              </a:rPr>
              <a:t>$12–40K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  <a:latin typeface="Calibri"/>
              </a:rPr>
              <a:t>per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9944" y="3383280"/>
            <a:ext cx="21945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7064" y="3520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fully-loaded cost of
cash application errors &amp; rework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43416" y="1920240"/>
            <a:ext cx="2743200" cy="41148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103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6B35"/>
                </a:solidFill>
                <a:latin typeface="Calibri"/>
              </a:rPr>
              <a:t>DSO +5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BEC5"/>
                </a:solidFill>
                <a:latin typeface="Calibri"/>
              </a:rPr>
              <a:t>hidden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7736" y="3383280"/>
            <a:ext cx="21945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35204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inflated by unapplied
cash sitting on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Note: ranges based on professional services firms with 8–20 employees and 100–400 invoices/month.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LunarLogic Payment Receipt &amp; Cash Application — Automated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Plaid webhook
catches every
bank transaction
in real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9424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2576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144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AI reads
remittance data
from any format
(ACH, check, portal)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Fuzzy-match engine
correlates payment
to open QuickBooks
invoices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AUTO-APPLY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2512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Confidence ≥ 90%:
applied instantly
to QB with zero
human touch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ESCALATE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7616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Ambiguous matches:
Slack prompt to
finance team for
one-click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1828800"/>
            <a:ext cx="1828800" cy="420624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22992" y="192024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24231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3017520"/>
            <a:ext cx="15087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3127248"/>
            <a:ext cx="175564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Every action logged
to Google Sheets
for audit trail &amp;
reconciliation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3520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05072" y="3520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0176" y="3520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3520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352044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C2FF"/>
                </a:solidFill>
                <a:latin typeface="Calibr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Default rule: payments applied to oldest open invoice first.  Fully configurable.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Intelligent Matching — Handles the Edge Cases That Break Manual Processes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548640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MATCHING SIGNALS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Invoice number extracted from remittance memo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Dollar amount ± partial payment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Customer name fuzzy match (handles abbreviations)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Payment date vs. invoice due date proximity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PO number or job reference cross-reference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✓  Historical payment behavior per 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83080"/>
            <a:ext cx="580644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CONFIDENCE TIERS &amp; ACTIONS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14600"/>
            <a:ext cx="201168" cy="201168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696"/>
                </a:solidFill>
                <a:latin typeface="Calibri"/>
              </a:rPr>
              <a:t>≥ 90%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816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Auto-apply to QuickBooks immediately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474720"/>
            <a:ext cx="201168" cy="201168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70–89%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76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Apply + flag for next-day review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4434840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389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Calibri"/>
              </a:rPr>
              <a:t>&lt; 70%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36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Slack prompt — one-click approval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5394960"/>
            <a:ext cx="201168" cy="201168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349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0000"/>
                </a:solidFill>
                <a:latin typeface="Calibri"/>
              </a:rPr>
              <a:t>Unmatched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696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Dead-letter queue + Slack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PROOF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LunarLogic Automation Delivers — A Client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11521440" cy="1920240"/>
          </a:xfrm>
          <a:prstGeom prst="rect">
            <a:avLst/>
          </a:prstGeom>
          <a:solidFill>
            <a:srgbClr val="0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KAPTAIN CLEAN LLC  ·  Commercial Cleaning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"Before LunarLogic, our AP team spent half a day every week chasing down
which checks applied to which invoice. Now it just happens. Our books close faster
and we stopped carrying receivables we didn't know were already paid."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931920"/>
            <a:ext cx="274320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E696"/>
                </a:solidFill>
                <a:latin typeface="Calibri"/>
              </a:rPr>
              <a:t>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reduction in
invoice processing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3931920"/>
            <a:ext cx="274320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E696"/>
                </a:solidFill>
                <a:latin typeface="Calibri"/>
              </a:rPr>
              <a:t>19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DSO improvement
post go-live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3931920"/>
            <a:ext cx="274320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E696"/>
                </a:solidFill>
                <a:latin typeface="Calibri"/>
              </a:rPr>
              <a:t>&lt; 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time to full
production deployment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3416" y="3931920"/>
            <a:ext cx="2743200" cy="25603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41148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E696"/>
                </a:solidFill>
                <a:latin typeface="Calibri"/>
              </a:rPr>
              <a:t>0 hrs/wk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manual cash
application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WHAT YOU 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Everything Included — No Bolt-Ons, No Hidden Fees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47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Plaid Bank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50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Real-time transaction feed from your bank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71800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449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QuickBooks Online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Payments auto-posted and matched to open invoices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06907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4223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AI Matching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4456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Trained on your customer and invoice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16635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2395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Slack Approval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41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One-click resolution for ambiguous matches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87451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947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AR Aging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50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Live React dashboard — DSO trend, aging buckets, invoice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971800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449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Full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Every match decision logged to Google Sheets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406907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Daily AR Summary to Slack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7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Finance team sees AR health every morning at 9 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5166359"/>
            <a:ext cx="5669280" cy="96012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395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◆  Dedicated Implementation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6418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White-glove setup — live in under 2 weeks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in Under Two Weeks — Zero Disruption to Your Current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783080"/>
            <a:ext cx="278892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87451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Days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26771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KICKOFF &amp; CONNECT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24231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944368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QuickBooks OAuth credentialing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557016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Plaid bank account linking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169664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Slack workspace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82312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Map your chart of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783080"/>
            <a:ext cx="278892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87451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Days 3–5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26771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CONFIGURE &amp; 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7288" y="2834640"/>
            <a:ext cx="24231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2944368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Load customer master &amp; invoice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3557016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Configure confidence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4169664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Set default allocation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782312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Define escalation contacts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783080"/>
            <a:ext cx="278892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87451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Days 6–10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26771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TEST &amp; VALIDATE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2834640"/>
            <a:ext cx="24231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2944368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Parallel-run against your last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3557016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Review match accuracy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169664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Tune edge cases with your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4782312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Finance sign-off on match logic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3144" y="1783080"/>
            <a:ext cx="2788920" cy="470916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2872" y="187451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Calibri"/>
              </a:rPr>
              <a:t>Day 11–14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26771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36024" y="2834640"/>
            <a:ext cx="242316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2872" y="2944368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Flip switch to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3557016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Decommission manual process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4169664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Live monitoring for first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4782312"/>
            <a:ext cx="2578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→  Dashboard access for your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Transparent, Flat-Rate Pricing — No Per-Transaction Fees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55648"/>
            <a:ext cx="3566160" cy="4800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7004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C2FF"/>
                </a:solidFill>
                <a:latin typeface="Calibri"/>
              </a:rPr>
              <a:t>$697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0632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015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Up to 150 invoices/month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29718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Full cash application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0740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QuickBooks + Plaid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37175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Slack approval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6694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AR aging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96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Email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55648"/>
            <a:ext cx="3566160" cy="4800600"/>
          </a:xfrm>
          <a:prstGeom prst="rect">
            <a:avLst/>
          </a:prstGeom>
          <a:solidFill>
            <a:srgbClr val="0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55648"/>
            <a:ext cx="3383280" cy="347472"/>
          </a:xfrm>
          <a:prstGeom prst="rect">
            <a:avLst/>
          </a:prstGeom>
          <a:solidFill>
            <a:srgbClr val="00C2FF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</a:rPr>
              <a:t>  MOST 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7004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C2FF"/>
                </a:solidFill>
                <a:latin typeface="Calibri"/>
              </a:rPr>
              <a:t>$1,497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4015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Up to 250 invoices/month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840480"/>
            <a:ext cx="29718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77639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Everything in Essentials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0740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Priority Slack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37175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Custom matching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26694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Advanced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696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Dedicated CSM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755648"/>
            <a:ext cx="3566160" cy="4800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7004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C2FF"/>
                </a:solidFill>
                <a:latin typeface="Calibri"/>
              </a:rPr>
              <a:t>$2,497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06324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4015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Up to 400 invoices/month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840480"/>
            <a:ext cx="29718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977639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Everything in Professional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407407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Multi-entity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837175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API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26694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Custom integrations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696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✓  SLA guarantee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  <a:latin typeface="Calibri"/>
              </a:rPr>
              <a:t>Implementation fee: $2,500  (waived with 12-month commitment)  ·  Overage: $5/invoice  ·  60-day satisfaction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2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Let's Get Your Cash Application Running on Autopilot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77440"/>
            <a:ext cx="114300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2697480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30-minute technical scoping call — map your bank accounts, QB setup, and invoice volume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593592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Within 48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953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Custom proposal with recommended plan tier and ROI projection for your firm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489704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9826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Day 1 of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914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Credentials exchange and Plaid/QB connection — we handle all the technical setup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5385816"/>
            <a:ext cx="228600" cy="228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9437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2FF"/>
                </a:solidFill>
                <a:latin typeface="Calibri"/>
              </a:rPr>
              <a:t>Day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87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Go live — your team wakes up to cash application that runs itself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514600"/>
            <a:ext cx="4983480" cy="3657600"/>
          </a:xfrm>
          <a:prstGeom prst="rect">
            <a:avLst/>
          </a:prstGeom>
          <a:solidFill>
            <a:srgbClr val="1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2697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JONATHAN RODRIGUEZ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546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Founder &amp; CEO, LunarLogic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3703320"/>
            <a:ext cx="438912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8404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✉  jrodriguez@lunarlogic.ai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43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696"/>
                </a:solidFill>
                <a:latin typeface="Calibri"/>
              </a:rPr>
              <a:t>60-day satisfaction guarantee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8006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C5"/>
                </a:solidFill>
                <a:latin typeface="Calibri"/>
              </a:rPr>
              <a:t>If we don't reduce your cash application
time by 80%, you pay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