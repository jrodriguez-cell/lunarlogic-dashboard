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What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Earned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788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AR Automation System for Carolina Turf Lawn and Landscape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32004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Rodriguez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0416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 ·  jrodriguez@lunarlogic.ai  · 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Deliver Excellence.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Shouldn't Have to Wait to Get Paid.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11887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Turf runs 8 service lines, serves HOAs, commercial properties, and homeowners across 28+ communities. That operational complexity shouldn't mean delayed cash flow. These three patterns keep showing up in landscaping companies your size: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2606040" cy="283464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783080"/>
            <a:ext cx="260604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Days to Collect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 boards and commercial clients run their own AP schedules — 30, 45, even 60-day payment terms are standard. You've already delivered the work, but the cash won't land for weeks.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06040" cy="283464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783080"/>
            <a:ext cx="260604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920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office team is talented and stretched thin. Collections calls happen when someone has bandwidth — which means some invoices age silently while your staff handles everything else.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1783080"/>
            <a:ext cx="2606040" cy="283464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783080"/>
            <a:ext cx="26060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920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83680" y="2468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Leakage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deposits not invoiced at signing. Crew completes a job Tuesday; invoice goes out Friday. Small gaps that, multiplied across 150–250 invoices per month, add real dollars to your DSO.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 |  AR Automation for Service Businesses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Slow AR Is Actually Costing Carolina Turf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$328,767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locked in open receivables — money you've earned but haven't collected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423160"/>
            <a:ext cx="2651760" cy="1325880"/>
          </a:xfrm>
          <a:prstGeom prst="rect">
            <a:avLst/>
          </a:prstGeom>
          <a:solidFill>
            <a:srgbClr val="163326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248716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$62,500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21208" y="3063240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unbilled 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annually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0128" y="2423160"/>
            <a:ext cx="2651760" cy="1325880"/>
          </a:xfrm>
          <a:prstGeom prst="rect">
            <a:avLst/>
          </a:prstGeom>
          <a:solidFill>
            <a:srgbClr val="163326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248716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$11,700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19856" y="3063240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staff time spent 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collections each year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2423160"/>
            <a:ext cx="2651760" cy="1325880"/>
          </a:xfrm>
          <a:prstGeom prst="rect">
            <a:avLst/>
          </a:prstGeom>
          <a:solidFill>
            <a:srgbClr val="163326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48716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$11,250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bad debt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886200"/>
            <a:ext cx="832104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$263,532 working against you every year — not from lack of revenue, from lack of collection systems.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 |  AR Automation for Service Businesses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LunarLogic AR Automation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automated workflows that run inside QuickBooks Online — no new software, no training required.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53312"/>
            <a:ext cx="2148840" cy="324612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53312"/>
            <a:ext cx="2148840" cy="91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24128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Created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2880360"/>
            <a:ext cx="1938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at job completion. No human touchpoint needed — the invoice builds itself.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9736" y="2834640"/>
            <a:ext cx="164592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27249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1353312"/>
            <a:ext cx="2148840" cy="324612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353312"/>
            <a:ext cx="214884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172968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2888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Sent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Schedule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32888" y="2880360"/>
            <a:ext cx="1938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1, 7, 14, 30 past due. Escalating tone. Email + SMS via Twilio. Always 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08576" y="2834640"/>
            <a:ext cx="164592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27249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53712" y="1353312"/>
            <a:ext cx="2148840" cy="324612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3712" y="1353312"/>
            <a:ext cx="2148840" cy="914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30352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2880360"/>
            <a:ext cx="1938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pay. No login, no friction. Embedded in every reminder automatically.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39128" y="2834640"/>
            <a:ext cx="164592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7249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93408" y="1353312"/>
            <a:ext cx="2148840" cy="324612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93408" y="1353312"/>
            <a:ext cx="214884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443216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03136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03136" y="2880360"/>
            <a:ext cx="1938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 aging dashboard. Monday morning Slack report. Full visibility, zero effort.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EF4F0"/>
          </a:solidFill>
          <a:ln w="12700">
            <a:solidFill>
              <a:srgbClr val="D1E8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091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QuickBooks Online. Nothing new to learn. No new software to manage.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Sell You Software. We Run Your AR.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475488"/>
          </a:xfrm>
          <a:prstGeom prst="rect">
            <a:avLst/>
          </a:prstGeom>
          <a:solidFill>
            <a:srgbClr val="4B0000"/>
          </a:solidFill>
          <a:ln w="12700">
            <a:solidFill>
              <a:srgbClr val="4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LunarLogic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960120"/>
            <a:ext cx="402336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9601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LunarLogic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81912"/>
            <a:ext cx="40233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81912"/>
            <a:ext cx="73152" cy="5303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367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 creation after every job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81912"/>
            <a:ext cx="40233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81912"/>
            <a:ext cx="73152" cy="5303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367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invoice triggers at job completion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76272"/>
            <a:ext cx="73152" cy="5303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311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follow-ups when staff is stretched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17627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176272"/>
            <a:ext cx="73152" cy="5303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311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reminder sequences — Day 1, 7, 14, 30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770632"/>
            <a:ext cx="40233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70632"/>
            <a:ext cx="73152" cy="5303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2549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Uncomfortable collections calls to clients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770632"/>
            <a:ext cx="40233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770632"/>
            <a:ext cx="73152" cy="5303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82549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links do the asking — professionally, automatically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3649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73152" cy="5303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1985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AR health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3649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364992"/>
            <a:ext cx="73152" cy="5303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41985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every Monday morning in Slack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959352"/>
            <a:ext cx="40233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959352"/>
            <a:ext cx="73152" cy="5303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0142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 wasted chasing open invoices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959352"/>
            <a:ext cx="40233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959352"/>
            <a:ext cx="73152" cy="5303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0142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focused on clients, crews, and growth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 |  AR Automation for Service Businesses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for Carolina Turf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105156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875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960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days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017520" y="987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0" y="960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days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1051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26-day reduction in days sales outstanding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2011680" cy="2103120"/>
          </a:xfrm>
          <a:prstGeom prst="rect">
            <a:avLst/>
          </a:prstGeom>
          <a:solidFill>
            <a:srgbClr val="163326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2176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Released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6334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$178,082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21208" y="345643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freed in Year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78608" y="2103120"/>
            <a:ext cx="2011680" cy="2103120"/>
          </a:xfrm>
          <a:prstGeom prst="rect">
            <a:avLst/>
          </a:prstGeom>
          <a:solidFill>
            <a:srgbClr val="163326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88336" y="2176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 1 Value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88336" y="26334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$263,532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688336" y="345643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+ savings + bad debt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36592" y="2103120"/>
            <a:ext cx="2011680" cy="2103120"/>
          </a:xfrm>
          <a:prstGeom prst="rect">
            <a:avLst/>
          </a:prstGeom>
          <a:solidFill>
            <a:srgbClr val="163326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176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Investment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846320" y="345643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$1,000/month, no long-term contract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2103120"/>
            <a:ext cx="2011680" cy="2103120"/>
          </a:xfrm>
          <a:prstGeom prst="rect">
            <a:avLst/>
          </a:prstGeom>
          <a:solidFill>
            <a:srgbClr val="163326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13448" y="217627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ROI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13448" y="2633472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22x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013448" y="345643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3708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projected revenue. This is money you've already earned — collected faster.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 |  AR Automation for Service Businesses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Automated in 30 Days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87552"/>
            <a:ext cx="8321040" cy="109728"/>
          </a:xfrm>
          <a:prstGeom prst="rect">
            <a:avLst/>
          </a:prstGeom>
          <a:solidFill>
            <a:srgbClr val="D1E8DB"/>
          </a:solidFill>
          <a:ln w="12700">
            <a:solidFill>
              <a:srgbClr val="D1E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914400"/>
            <a:ext cx="256032" cy="25603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2651760" cy="274320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2651760" cy="822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Setup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connection established. Workflow configuration built to match Carolina Turf's billing rules — maintenance programs, project invoicing, seasonal contracts. Billing triggers mapped.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33672" y="914400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344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572768"/>
            <a:ext cx="2651760" cy="274320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72768"/>
            <a:ext cx="2651760" cy="822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19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Refinement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testing with real invoices. Reminder sequences tuned to Carolina Turf's voice and brand. Timing, tone, and escalation logic confirmed. Edge cases handled.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0" y="914400"/>
            <a:ext cx="256032" cy="25603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2344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572768"/>
            <a:ext cx="2651760" cy="274320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572768"/>
            <a:ext cx="2651760" cy="822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719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17920" y="22402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active. Dashboard live in Slack. First automated reminder sequences running. AR aging report delivered Monday morning.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EEF4F0"/>
          </a:solidFill>
          <a:ln w="12700">
            <a:solidFill>
              <a:srgbClr val="D1E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5445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attend one onboarding call. We handle everything else.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Years of Excellence Deserves a Financial System to Match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70432"/>
            <a:ext cx="832104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"Responsive. Profitable. Professional."  — Carolina Turf Mission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47088"/>
            <a:ext cx="8138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Turf has spent 13 years building a reputation for quality, integrity, and client satisfaction across Charlotte metro and beyond. You've grown to 8 service lines, 28+ communities, commercial contracts, HOA relationships, and a branded fleet that signals professionalism before anyone picks up a phone.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side is already exceptional.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installs the financial infrastructure to make sure the revenue from that excellence arrives on time, every time — without anyone on your team having to chase it.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billing. Profitable cash flow. Professional collections — automated.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5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 |  AR Automation for Service Businesses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Find Out What Your AR Is Actually Worth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9326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steps — the first one costs you 20 minutes.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43000" y="1463040"/>
            <a:ext cx="7543800" cy="82296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63040"/>
            <a:ext cx="73152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499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Audit Call — 20 Minutes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8470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pull your QuickBooks aging report together on a screen share. You'll see exactly how many dollars are sitting in 30-, 60-, and 90-day buckets before we say another word about solutions.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24328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" y="2514600"/>
            <a:ext cx="7543800" cy="82296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2514600"/>
            <a:ext cx="73152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551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ROI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89864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your specific financial model using your actual invoice volume, current DSO, and historical collections data. The numbers in this deck are estimates — we'll replace them with yours.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675888"/>
            <a:ext cx="566928" cy="5669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75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43000" y="3566160"/>
            <a:ext cx="7543800" cy="822960"/>
          </a:xfrm>
          <a:prstGeom prst="rect">
            <a:avLst/>
          </a:prstGeom>
          <a:solidFill>
            <a:srgbClr val="F1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3566160"/>
            <a:ext cx="73152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602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Installation — If It Makes Sense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9502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numbers work, we install the full system in 30 days. Month-to-month engagement. No long-term contract required. 60-day satisfaction guarantee.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572000"/>
            <a:ext cx="8321040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Rodriguez  ·  LunarLogic  ·  jrodriguez@lunarlogic.ai  ·  [Phone]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LunarLogic — Carolina Turf AR Automation</dc:title>
  <dc:subject>PptxGenJS Presentation</dc:subject>
  <dc:creator>Jonathan Rodriguez</dc:creator>
  <cp:lastModifiedBy>Jonathan Rodriguez</cp:lastModifiedBy>
  <cp:revision>1</cp:revision>
  <dcterms:created xsi:type="dcterms:W3CDTF">2026-06-02T03:38:38Z</dcterms:created>
  <dcterms:modified xsi:type="dcterms:W3CDTF">2026-06-02T03:38:38Z</dcterms:modified>
</cp:coreProperties>
</file>