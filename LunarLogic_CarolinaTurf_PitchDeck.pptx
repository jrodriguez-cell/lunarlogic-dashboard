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914400"/>
            <a:ext cx="6400800" cy="4572000"/>
          </a:xfrm>
          <a:prstGeom prst="ellipse">
            <a:avLst/>
          </a:prstGeom>
          <a:solidFill>
            <a:srgbClr val="001A24"/>
          </a:solidFill>
          <a:ln w="12700">
            <a:solidFill>
              <a:srgbClr val="001A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lunarlogic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12064" y="89611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300" kern="0" dirty="0">
                <a:solidFill>
                  <a:srgbClr val="9CA3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 AUTOMATION PLATFORM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8138160" cy="182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444752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Reclaim What</a:t>
            </a:r>
            <a:endParaRPr lang="en-US" sz="5200" dirty="0"/>
          </a:p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You've Already Earned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02920" y="33375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Custom AR Automation System for Carolina Turf Lawn and Landscape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449884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Presented by  Jonathan Rodriguez  ·  jrodriguez@lunarlogic.ai  ·  [Date]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321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 Deliver Excellence.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 Shouldn't Have to Wait to Get Paid.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81328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Carolina Turf runs 8 service lines across 28+ communities — maintenance, hardscapes, HOA contracts, commercial properties. That complexity creates billing gaps that quietly erode cash flow. Three patterns keep showing up: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2651760" cy="2834640"/>
          </a:xfrm>
          <a:prstGeom prst="rect">
            <a:avLst/>
          </a:prstGeom>
          <a:solidFill>
            <a:srgbClr val="1118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011680"/>
            <a:ext cx="2651760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214884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⏱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21792" y="267004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50+ DAYS TO COLLECT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21792" y="29260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HOA &amp; Commercial Cash Gap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21792" y="3383280"/>
            <a:ext cx="232257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5E7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HOA boards and commercial clients run their own AP schedules — 30, 45, even 60-day terms are standard. You've already done the work. The cash won't land for weeks.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10128" y="2011680"/>
            <a:ext cx="2651760" cy="2834640"/>
          </a:xfrm>
          <a:prstGeom prst="rect">
            <a:avLst/>
          </a:prstGeom>
          <a:solidFill>
            <a:srgbClr val="1118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10128" y="2011680"/>
            <a:ext cx="265176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214884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🗂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474720" y="267004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MANUAL FOLLOW-UP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474720" y="29260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Collections When There's Time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474720" y="3383280"/>
            <a:ext cx="232257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5E7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Your office team is talented and stretched thin. Follow-up happens when someone has bandwidth — which means some invoices age silently while everything else gets prioritized.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72200" y="2011680"/>
            <a:ext cx="2651760" cy="2834640"/>
          </a:xfrm>
          <a:prstGeom prst="rect">
            <a:avLst/>
          </a:prstGeom>
          <a:solidFill>
            <a:srgbClr val="1118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72200" y="2011680"/>
            <a:ext cx="2651760" cy="5486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36792" y="214884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🔍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336792" y="267004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INVISIBLE LEAKAGE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36792" y="29260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Revenue That Never Gets Billed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336792" y="3383280"/>
            <a:ext cx="232257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5E7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deposits not invoiced at signing. Jobs completed Tuesday, invoiced Friday. Small gaps multiplied across 150–250 invoices per month add real dollars to your DSO.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65760" y="4828032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7415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lunarlogic  ·  AR Automation Platform  ·  lunarlogic.ai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COST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321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Slow AR Is Actually Costing Carolina Turf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8321040" cy="1170432"/>
          </a:xfrm>
          <a:prstGeom prst="rect">
            <a:avLst/>
          </a:prstGeom>
          <a:solidFill>
            <a:srgbClr val="1118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07008"/>
            <a:ext cx="8321040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98448"/>
            <a:ext cx="411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$328,767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4846320" y="1481328"/>
            <a:ext cx="3749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E5E7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currently locked in open receivables — money you've already earned but haven't collected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2651760" cy="1508760"/>
          </a:xfrm>
          <a:prstGeom prst="rect">
            <a:avLst/>
          </a:prstGeom>
          <a:solidFill>
            <a:srgbClr val="1118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514600"/>
            <a:ext cx="265176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2651760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$62,500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621792" y="333756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UNBILLED / LOST REVENUE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21792" y="353872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annually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10128" y="2514600"/>
            <a:ext cx="2651760" cy="1508760"/>
          </a:xfrm>
          <a:prstGeom prst="rect">
            <a:avLst/>
          </a:prstGeom>
          <a:solidFill>
            <a:srgbClr val="1118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0128" y="2514600"/>
            <a:ext cx="265176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2651760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$11,700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3474720" y="333756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STAFF TIME ON COLLECTIONS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474720" y="353872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 year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72200" y="2514600"/>
            <a:ext cx="2651760" cy="1508760"/>
          </a:xfrm>
          <a:prstGeom prst="rect">
            <a:avLst/>
          </a:prstGeom>
          <a:solidFill>
            <a:srgbClr val="1118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72200" y="2514600"/>
            <a:ext cx="2651760" cy="5486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36792" y="2651760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$11,250</a:t>
            </a:r>
            <a:endParaRPr lang="en-US" sz="3800" dirty="0"/>
          </a:p>
        </p:txBody>
      </p:sp>
      <p:sp>
        <p:nvSpPr>
          <p:cNvPr id="21" name="Text 19"/>
          <p:cNvSpPr/>
          <p:nvPr/>
        </p:nvSpPr>
        <p:spPr>
          <a:xfrm>
            <a:off x="6336792" y="333756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 DEBT LOSSES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336792" y="353872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annually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4169664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E5E7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That's  $263,532  working against you every year — not from lack of revenue, from lack of collection systems.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65760" y="4828032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7415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lunarlogic  ·  AR Automation Platform  ·  lunarlogic.ai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SYSTEM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LunarLogic AR Automation System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 automated workflows — runs inside QuickBooks Online, nothing new to learn.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340864"/>
            <a:ext cx="8458200" cy="27432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463040"/>
            <a:ext cx="2029968" cy="3337560"/>
          </a:xfrm>
          <a:prstGeom prst="rect">
            <a:avLst/>
          </a:prstGeom>
          <a:solidFill>
            <a:srgbClr val="1118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463040"/>
            <a:ext cx="2029968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2336" y="1572768"/>
            <a:ext cx="685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115568" y="170992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WF1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02336" y="2267712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Invoice Created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Automatically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02336" y="2999232"/>
            <a:ext cx="17922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5E7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Triggered at job completion. No human touchpoint — the invoice builds itself in QuickBooks instantly.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340864" y="21031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9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2487168" y="1463040"/>
            <a:ext cx="2029968" cy="3337560"/>
          </a:xfrm>
          <a:prstGeom prst="rect">
            <a:avLst/>
          </a:prstGeom>
          <a:solidFill>
            <a:srgbClr val="1118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87168" y="1463040"/>
            <a:ext cx="2029968" cy="5486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15184" y="1572768"/>
            <a:ext cx="685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3328416" y="170992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WF2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615184" y="2267712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Reminders Sent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 Schedule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615184" y="2999232"/>
            <a:ext cx="17922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5E7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1, 7, 14, 30 past due. Escalating tone. Email + SMS via Twilio. Always running, always on-brand.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53712" y="21031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9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690872" y="1463040"/>
            <a:ext cx="2029968" cy="3337560"/>
          </a:xfrm>
          <a:prstGeom prst="rect">
            <a:avLst/>
          </a:prstGeom>
          <a:solidFill>
            <a:srgbClr val="1118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90872" y="1463040"/>
            <a:ext cx="2029968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18888" y="1572768"/>
            <a:ext cx="685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5532120" y="170992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WF3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18888" y="2267712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 Link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Delivered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818888" y="2999232"/>
            <a:ext cx="17922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5E7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tap to pay. No login, no friction. Embedded in every reminder — removes every excuse not to pay.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757416" y="21031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9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903720" y="1463040"/>
            <a:ext cx="2029968" cy="3337560"/>
          </a:xfrm>
          <a:prstGeom prst="rect">
            <a:avLst/>
          </a:prstGeom>
          <a:solidFill>
            <a:srgbClr val="1118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903720" y="1463040"/>
            <a:ext cx="2029968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31736" y="1572768"/>
            <a:ext cx="685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44968" y="170992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WF4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031736" y="2267712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 See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Everything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031736" y="2999232"/>
            <a:ext cx="17922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5E7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AR aging dashboard. Monday morning Slack report. Full real-time visibility with zero manual work.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65760" y="4828032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7415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lunarlogic  ·  AR Automation Platform  ·  lunarlogic.ai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DIFFERENCE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321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Don't Sell You Software. We Run Your AR.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977640" cy="457200"/>
          </a:xfrm>
          <a:prstGeom prst="rect">
            <a:avLst/>
          </a:prstGeom>
          <a:solidFill>
            <a:srgbClr val="0F1929"/>
          </a:solidFill>
          <a:ln w="12700">
            <a:solidFill>
              <a:srgbClr val="3B1F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8872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WITHOUT LUNARLOGIC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09160" y="1188720"/>
            <a:ext cx="3977640" cy="457200"/>
          </a:xfrm>
          <a:prstGeom prst="rect">
            <a:avLst/>
          </a:prstGeom>
          <a:solidFill>
            <a:srgbClr val="0F1929"/>
          </a:solidFill>
          <a:ln w="12700">
            <a:solidFill>
              <a:srgbClr val="0A30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09160" y="118872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 LUNARLOGIC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3977640" cy="530352"/>
          </a:xfrm>
          <a:prstGeom prst="rect">
            <a:avLst/>
          </a:prstGeom>
          <a:solidFill>
            <a:srgbClr val="0D1520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737360"/>
            <a:ext cx="54864" cy="53035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783080"/>
            <a:ext cx="37307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E5E7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Manual invoice creation after every job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09160" y="1737360"/>
            <a:ext cx="3977640" cy="530352"/>
          </a:xfrm>
          <a:prstGeom prst="rect">
            <a:avLst/>
          </a:prstGeom>
          <a:solidFill>
            <a:srgbClr val="0D1520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1737360"/>
            <a:ext cx="54864" cy="530352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73752" y="1783080"/>
            <a:ext cx="37307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Automated invoice triggers at job completion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3977640" cy="530352"/>
          </a:xfrm>
          <a:prstGeom prst="rect">
            <a:avLst/>
          </a:prstGeom>
          <a:solidFill>
            <a:srgbClr val="111827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322576"/>
            <a:ext cx="54864" cy="53035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2368296"/>
            <a:ext cx="37307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E5E7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Forgotten follow-ups when staff is stretched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09160" y="2322576"/>
            <a:ext cx="3977640" cy="530352"/>
          </a:xfrm>
          <a:prstGeom prst="rect">
            <a:avLst/>
          </a:prstGeom>
          <a:solidFill>
            <a:srgbClr val="111827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09160" y="2322576"/>
            <a:ext cx="54864" cy="530352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73752" y="2368296"/>
            <a:ext cx="37307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Systematic Day 1 / 7 / 14 / 30 reminder sequences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2907792"/>
            <a:ext cx="3977640" cy="530352"/>
          </a:xfrm>
          <a:prstGeom prst="rect">
            <a:avLst/>
          </a:prstGeom>
          <a:solidFill>
            <a:srgbClr val="0D1520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2907792"/>
            <a:ext cx="54864" cy="53035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" y="2953512"/>
            <a:ext cx="37307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E5E7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 collections calls to clients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709160" y="2907792"/>
            <a:ext cx="3977640" cy="530352"/>
          </a:xfrm>
          <a:prstGeom prst="rect">
            <a:avLst/>
          </a:prstGeom>
          <a:solidFill>
            <a:srgbClr val="0D1520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09160" y="2907792"/>
            <a:ext cx="54864" cy="530352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73752" y="2953512"/>
            <a:ext cx="37307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 links do the asking — professionally, automatically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57200" y="3493008"/>
            <a:ext cx="3977640" cy="530352"/>
          </a:xfrm>
          <a:prstGeom prst="rect">
            <a:avLst/>
          </a:prstGeom>
          <a:solidFill>
            <a:srgbClr val="111827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3493008"/>
            <a:ext cx="54864" cy="53035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" y="3538728"/>
            <a:ext cx="37307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E5E7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real-time visibility into AR aging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709160" y="3493008"/>
            <a:ext cx="3977640" cy="530352"/>
          </a:xfrm>
          <a:prstGeom prst="rect">
            <a:avLst/>
          </a:prstGeom>
          <a:solidFill>
            <a:srgbClr val="111827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09160" y="3493008"/>
            <a:ext cx="54864" cy="530352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73752" y="3538728"/>
            <a:ext cx="37307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dashboard every Monday morning in Slack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57200" y="4078224"/>
            <a:ext cx="3977640" cy="530352"/>
          </a:xfrm>
          <a:prstGeom prst="rect">
            <a:avLst/>
          </a:prstGeom>
          <a:solidFill>
            <a:srgbClr val="0D1520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4078224"/>
            <a:ext cx="54864" cy="53035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1792" y="4123944"/>
            <a:ext cx="37307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E5E7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Staff time wasted chasing open invoices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709160" y="4078224"/>
            <a:ext cx="3977640" cy="530352"/>
          </a:xfrm>
          <a:prstGeom prst="rect">
            <a:avLst/>
          </a:prstGeom>
          <a:solidFill>
            <a:srgbClr val="0D1520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09160" y="4078224"/>
            <a:ext cx="54864" cy="530352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73752" y="4123944"/>
            <a:ext cx="37307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Staff focused on clients, crews, and growth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365760" y="4828032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7415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lunarlogic  ·  AR Automation Platform  ·  lunarlogic.ai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ROI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321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Numbers for Carolina Turf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70432"/>
            <a:ext cx="8321040" cy="1005840"/>
          </a:xfrm>
          <a:prstGeom prst="rect">
            <a:avLst/>
          </a:prstGeom>
          <a:solidFill>
            <a:srgbClr val="1118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170432"/>
            <a:ext cx="8321040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8016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CA3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DSO  TODAY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58368" y="14813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48 days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26060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9CA3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154680" y="12801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DSO  WITH LUNARLOGIC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154680" y="148132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 days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5577840" y="15361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9CA3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26-day reduction in days sales outstanding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304288"/>
            <a:ext cx="201168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04288"/>
            <a:ext cx="2011680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4231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WORKING CAPITAL RELEASED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94360" y="2816352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$178,082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594360" y="3639312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cash freed in Year 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578608" y="2304288"/>
            <a:ext cx="201168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78608" y="2304288"/>
            <a:ext cx="2011680" cy="5486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15768" y="24231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TOTAL YEAR 1 VALUE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715768" y="2816352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$263,532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2715768" y="3639312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working capital + savings + bad debt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90872" y="2304288"/>
            <a:ext cx="201168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90872" y="2304288"/>
            <a:ext cx="2011680" cy="54864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8032" y="24231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CA3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LUNARLOGIC INVESTMENT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828032" y="2816352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9CA3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$12,000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4828032" y="3639312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$1,000/month · no long-term contract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812280" y="2304288"/>
            <a:ext cx="201168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2280" y="2304288"/>
            <a:ext cx="2011680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49440" y="24231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YEAR 1 RETURN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949440" y="2816352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22×</a:t>
            </a:r>
            <a:endParaRPr lang="en-US" sz="3800" dirty="0"/>
          </a:p>
        </p:txBody>
      </p:sp>
      <p:sp>
        <p:nvSpPr>
          <p:cNvPr id="31" name="Text 29"/>
          <p:cNvSpPr/>
          <p:nvPr/>
        </p:nvSpPr>
        <p:spPr>
          <a:xfrm>
            <a:off x="6949440" y="3639312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 on investment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4681728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CA3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This is not projected revenue. This is money you've already earned — collected faster.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IMPLEMENTATION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321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Zero to Automated in 30 Days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331720"/>
            <a:ext cx="7818120" cy="36576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249424"/>
            <a:ext cx="219456" cy="219456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60604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 1–2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880360"/>
            <a:ext cx="2651760" cy="2011680"/>
          </a:xfrm>
          <a:prstGeom prst="rect">
            <a:avLst/>
          </a:prstGeom>
          <a:solidFill>
            <a:srgbClr val="1118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880360"/>
            <a:ext cx="2651760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99923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 &amp; Setup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" y="3456432"/>
            <a:ext cx="23774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5E7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QuickBooks connection established. All four workflows configured to match Carolina Turf's billing rules — maintenance programs, project invoicing, seasonal contracts, and deposit triggers. Every client billing scenario mapped.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050792" y="2249424"/>
            <a:ext cx="219456" cy="21945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6120" y="260604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 3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46120" y="2880360"/>
            <a:ext cx="2651760" cy="2011680"/>
          </a:xfrm>
          <a:prstGeom prst="rect">
            <a:avLst/>
          </a:prstGeom>
          <a:solidFill>
            <a:srgbClr val="1118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2880360"/>
            <a:ext cx="265176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299923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 &amp; Refinement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383280" y="3456432"/>
            <a:ext cx="23774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5E7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testing with real invoices. Reminder sequences tuned to Carolina Turf's voice and brand standards. Timing, tone, and escalation logic validated. Edge cases handled before go-live.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095744" y="2249424"/>
            <a:ext cx="219456" cy="21945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0" y="260604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 4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35040" y="2880360"/>
            <a:ext cx="2651760" cy="2011680"/>
          </a:xfrm>
          <a:prstGeom prst="rect">
            <a:avLst/>
          </a:prstGeom>
          <a:solidFill>
            <a:srgbClr val="1118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2880360"/>
            <a:ext cx="2651760" cy="5486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72200" y="299923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 Live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172200" y="3456432"/>
            <a:ext cx="23774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5E7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system active. Dashboard live in Slack. First automated reminder sequences running. AR aging report delivered Monday morning. You're collecting on day one.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57200" y="477316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 attend one onboarding call. We handle everything else.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MATTERS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321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 Years of Excellence Deserves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Financial System to Match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8321040" cy="594360"/>
          </a:xfrm>
          <a:prstGeom prst="rect">
            <a:avLst/>
          </a:prstGeom>
          <a:solidFill>
            <a:srgbClr val="1118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8321040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664208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 Responsive. Profitable. Professional. "   —  Carolina Turf Mission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832104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5E7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Carolina Turf has spent 13 years building a reputation for quality, integrity, and client satisfaction across Charlotte metro and beyond. You've grown to 8 service lines, 28+ communities, commercial contracts, HOA relationships, and a branded fleet that signals professionalism before anyone picks up a phone.</a:t>
            </a:r>
            <a:endParaRPr lang="en-US" sz="1450" dirty="0"/>
          </a:p>
          <a:p>
            <a:pPr algn="l" indent="0" marL="0">
              <a:lnSpc>
                <a:spcPct val="135000"/>
              </a:lnSpc>
              <a:buNone/>
            </a:pPr>
            <a:endParaRPr lang="en-US" sz="14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5E7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operational side of this business is already exceptional.</a:t>
            </a:r>
            <a:endParaRPr lang="en-US" sz="1450" dirty="0"/>
          </a:p>
          <a:p>
            <a:pPr algn="l" indent="0" marL="0">
              <a:lnSpc>
                <a:spcPct val="135000"/>
              </a:lnSpc>
              <a:buNone/>
            </a:pPr>
            <a:endParaRPr lang="en-US" sz="14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5E7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LunarLogic installs the financial infrastructure to make sure the revenue from that excellence arrives on time, every time — without anyone on your team having to chase it.</a:t>
            </a:r>
            <a:endParaRPr lang="en-US" sz="1450" dirty="0"/>
          </a:p>
          <a:p>
            <a:pPr algn="l" indent="0" marL="0">
              <a:lnSpc>
                <a:spcPct val="135000"/>
              </a:lnSpc>
              <a:buNone/>
            </a:pPr>
            <a:endParaRPr lang="en-US" sz="14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5E7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Responsive billing. Profitable cash flow. Professional collections — fully automated.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65760" y="4828032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7415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lunarlogic  ·  AR Automation Platform  ·  lunarlogic.ai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321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Let's Find Out What Your AR Is Actually Worth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simple steps — the first one costs you 20 minutes.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8321040" cy="868680"/>
          </a:xfrm>
          <a:prstGeom prst="rect">
            <a:avLst/>
          </a:prstGeom>
          <a:solidFill>
            <a:srgbClr val="1118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655064"/>
            <a:ext cx="548640" cy="548640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6550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54864" cy="86868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80160" y="1563624"/>
            <a:ext cx="7269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 Audit Call  —  20 Minutes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1920240"/>
            <a:ext cx="7269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pull your QuickBooks aging report together on a screen share. You'll see exactly how many dollars are sitting in 30-, 60-, and 90-day buckets before we say another word about solutions.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96312"/>
            <a:ext cx="8321040" cy="868680"/>
          </a:xfrm>
          <a:prstGeom prst="rect">
            <a:avLst/>
          </a:prstGeom>
          <a:solidFill>
            <a:srgbClr val="1118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2642616"/>
            <a:ext cx="548640" cy="5486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6426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496312"/>
            <a:ext cx="54864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80160" y="2551176"/>
            <a:ext cx="7269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 ROI Model with Your Actual Numbers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80160" y="2907792"/>
            <a:ext cx="7269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build your specific financial model using your real invoice volume, current DSO, and historical collections data. The numbers in this deck are estimates — we replace them with yours.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83864"/>
            <a:ext cx="8321040" cy="868680"/>
          </a:xfrm>
          <a:prstGeom prst="rect">
            <a:avLst/>
          </a:prstGeom>
          <a:solidFill>
            <a:srgbClr val="1118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" y="3630168"/>
            <a:ext cx="548640" cy="5486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3630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483864"/>
            <a:ext cx="54864" cy="86868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80160" y="3538728"/>
            <a:ext cx="7269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30-Day Installation  —  If It Makes Sense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3895344"/>
            <a:ext cx="7269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system installed in 30 days. Month-to-month engagement. No long-term contract required. 60-day satisfaction guarantee. If it doesn't deliver, you don't pay.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4572000"/>
            <a:ext cx="8321040" cy="438912"/>
          </a:xfrm>
          <a:prstGeom prst="rect">
            <a:avLst/>
          </a:prstGeom>
          <a:solidFill>
            <a:srgbClr val="0F1929"/>
          </a:solidFill>
          <a:ln w="9525">
            <a:solidFill>
              <a:srgbClr val="0099B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46177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Jonathan Rodriguez  ·  LunarLogic  ·  jrodriguez@lunarlogic.ai  ·  lunarlogic.ai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LunarLogic — Carolina Turf AR Automation</dc:title>
  <dc:subject>PptxGenJS Presentation</dc:subject>
  <dc:creator>Jonathan Rodriguez</dc:creator>
  <cp:lastModifiedBy>Jonathan Rodriguez</cp:lastModifiedBy>
  <cp:revision>1</cp:revision>
  <dcterms:created xsi:type="dcterms:W3CDTF">2026-06-02T03:51:03Z</dcterms:created>
  <dcterms:modified xsi:type="dcterms:W3CDTF">2026-06-02T03:51:03Z</dcterms:modified>
</cp:coreProperties>
</file>